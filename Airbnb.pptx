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5.xml" ContentType="application/vnd.openxmlformats-officedocument.presentationml.notesSlide+xml"/>
  <Override PartName="/ppt/charts/chart3.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4.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notesSlides/notesSlide11.xml" ContentType="application/vnd.openxmlformats-officedocument.presentationml.notesSlide+xml"/>
  <Override PartName="/ppt/charts/chart7.xml" ContentType="application/vnd.openxmlformats-officedocument.drawingml.chart+xml"/>
  <Override PartName="/ppt/notesSlides/notesSlide12.xml" ContentType="application/vnd.openxmlformats-officedocument.presentationml.notesSlide+xml"/>
  <Override PartName="/ppt/charts/chart8.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E24DAE76-8FAC-3B5F-EC74-4DEE360F2315}">
          <p14:sldIdLst>
            <p14:sldId id="256"/>
            <p14:sldId id="257"/>
            <p14:sldId id="258"/>
          </p14:sldIdLst>
        </p14:section>
        <p14:section name="Audience" id="{BA69AD79-C92B-D856-9F83-B4CA5E368F51}">
          <p14:sldIdLst>
            <p14:sldId id="259"/>
            <p14:sldId id="260"/>
            <p14:sldId id="261"/>
          </p14:sldIdLst>
        </p14:section>
        <p14:section name="Behaviour" id="{D1D006A4-85FC-B28D-0696-D619F968C9B6}">
          <p14:sldIdLst>
            <p14:sldId id="262"/>
            <p14:sldId id="263"/>
          </p14:sldIdLst>
        </p14:section>
        <p14:section name="Conversion &amp; revenue" id="{0D173F75-2954-3DC9-357A-B429C7744ABA}">
          <p14:sldIdLst>
            <p14:sldId id="264"/>
            <p14:sldId id="265"/>
            <p14:sldId id="266"/>
            <p14:sldId id="267"/>
          </p14:sldIdLst>
        </p14:section>
        <p14:section name="Actions" id="{CD3799D7-01E4-5C2D-D36F-6C889B681886}">
          <p14:sldIdLst>
            <p14:sldId id="268"/>
          </p14:sldIdLst>
        </p14:section>
        <p14:section name="Appendix" id="{EA1AA8BD-FED0-3E29-C135-57BE966E1BDF}">
          <p14:sldIdLst>
            <p14:sldId id="269"/>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5" d="100"/>
          <a:sy n="105" d="100"/>
        </p:scale>
        <p:origin x="82" y="13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1" i="0" u="none" strike="noStrike">
                <a:solidFill>
                  <a:srgbClr val="6B2328"/>
                </a:solidFill>
                <a:latin typeface="+mn-lt"/>
              </a:defRPr>
            </a:pPr>
            <a:r>
              <a:rPr lang="en-IN" sz="1400" b="1" i="0" u="none" strike="noStrike">
                <a:solidFill>
                  <a:srgbClr val="6B2328"/>
                </a:solidFill>
                <a:latin typeface="+mn-lt"/>
              </a:rPr>
              <a:t>Users by device (thousands)</a:t>
            </a:r>
          </a:p>
        </c:rich>
      </c:tx>
      <c:overlay val="0"/>
    </c:title>
    <c:autoTitleDeleted val="0"/>
    <c:plotArea>
      <c:layout/>
      <c:barChart>
        <c:barDir val="bar"/>
        <c:grouping val="clustered"/>
        <c:varyColors val="0"/>
        <c:ser>
          <c:idx val="0"/>
          <c:order val="0"/>
          <c:tx>
            <c:strRef>
              <c:f>Sheet1!$B$1</c:f>
              <c:strCache>
                <c:ptCount val="1"/>
                <c:pt idx="0">
                  <c:v>Users (K)</c:v>
                </c:pt>
              </c:strCache>
            </c:strRef>
          </c:tx>
          <c:spPr>
            <a:solidFill>
              <a:srgbClr val="A1343C"/>
            </a:solidFill>
            <a:effectLst/>
          </c:spPr>
          <c:invertIfNegative val="0"/>
          <c:dPt>
            <c:idx val="0"/>
            <c:invertIfNegative val="0"/>
            <c:bubble3D val="0"/>
            <c:extLst>
              <c:ext xmlns:c16="http://schemas.microsoft.com/office/drawing/2014/chart" uri="{C3380CC4-5D6E-409C-BE32-E72D297353CC}">
                <c16:uniqueId val="{00000001-63AB-48A6-AF06-93B37F865989}"/>
              </c:ext>
            </c:extLst>
          </c:dPt>
          <c:dPt>
            <c:idx val="1"/>
            <c:invertIfNegative val="0"/>
            <c:bubble3D val="0"/>
            <c:spPr>
              <a:solidFill>
                <a:srgbClr val="767676"/>
              </a:solidFill>
              <a:effectLst/>
            </c:spPr>
            <c:extLst>
              <c:ext xmlns:c16="http://schemas.microsoft.com/office/drawing/2014/chart" uri="{C3380CC4-5D6E-409C-BE32-E72D297353CC}">
                <c16:uniqueId val="{00000003-63AB-48A6-AF06-93B37F865989}"/>
              </c:ext>
            </c:extLst>
          </c:dPt>
          <c:dPt>
            <c:idx val="2"/>
            <c:invertIfNegative val="0"/>
            <c:bubble3D val="0"/>
            <c:spPr>
              <a:solidFill>
                <a:srgbClr val="767676"/>
              </a:solidFill>
              <a:effectLst/>
            </c:spPr>
            <c:extLst>
              <c:ext xmlns:c16="http://schemas.microsoft.com/office/drawing/2014/chart" uri="{C3380CC4-5D6E-409C-BE32-E72D297353CC}">
                <c16:uniqueId val="{00000005-63AB-48A6-AF06-93B37F865989}"/>
              </c:ext>
            </c:extLst>
          </c:dPt>
          <c:dPt>
            <c:idx val="3"/>
            <c:invertIfNegative val="0"/>
            <c:bubble3D val="0"/>
            <c:spPr>
              <a:solidFill>
                <a:srgbClr val="767676"/>
              </a:solidFill>
              <a:effectLst/>
            </c:spPr>
            <c:extLst>
              <c:ext xmlns:c16="http://schemas.microsoft.com/office/drawing/2014/chart" uri="{C3380CC4-5D6E-409C-BE32-E72D297353CC}">
                <c16:uniqueId val="{00000007-63AB-48A6-AF06-93B37F865989}"/>
              </c:ext>
            </c:extLst>
          </c:dPt>
          <c:dPt>
            <c:idx val="4"/>
            <c:invertIfNegative val="0"/>
            <c:bubble3D val="0"/>
            <c:spPr>
              <a:solidFill>
                <a:srgbClr val="767676"/>
              </a:solidFill>
              <a:effectLst/>
            </c:spPr>
            <c:extLst>
              <c:ext xmlns:c16="http://schemas.microsoft.com/office/drawing/2014/chart" uri="{C3380CC4-5D6E-409C-BE32-E72D297353CC}">
                <c16:uniqueId val="{00000009-63AB-48A6-AF06-93B37F865989}"/>
              </c:ext>
            </c:extLst>
          </c:dPt>
          <c:dPt>
            <c:idx val="5"/>
            <c:invertIfNegative val="0"/>
            <c:bubble3D val="0"/>
            <c:spPr>
              <a:solidFill>
                <a:srgbClr val="767676"/>
              </a:solidFill>
              <a:effectLst/>
            </c:spPr>
            <c:extLst>
              <c:ext xmlns:c16="http://schemas.microsoft.com/office/drawing/2014/chart" uri="{C3380CC4-5D6E-409C-BE32-E72D297353CC}">
                <c16:uniqueId val="{0000000B-63AB-48A6-AF06-93B37F865989}"/>
              </c:ext>
            </c:extLst>
          </c:dPt>
          <c:dLbls>
            <c:numFmt formatCode="0.0&quot;K&quot;" sourceLinked="0"/>
            <c:spPr>
              <a:noFill/>
              <a:ln>
                <a:noFill/>
              </a:ln>
              <a:effectLst/>
            </c:spPr>
            <c:txPr>
              <a:bodyPr/>
              <a:lstStyle/>
              <a:p>
                <a:pPr>
                  <a:defRPr sz="1200" b="0" i="0" u="none" strike="noStrike">
                    <a:solidFill>
                      <a:srgbClr val="2B1416"/>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iPhone</c:v>
                </c:pt>
                <c:pt idx="1">
                  <c:v>Desktop</c:v>
                </c:pt>
                <c:pt idx="2">
                  <c:v>Android Phone</c:v>
                </c:pt>
                <c:pt idx="3">
                  <c:v>iPad</c:v>
                </c:pt>
                <c:pt idx="4">
                  <c:v>Other</c:v>
                </c:pt>
                <c:pt idx="5">
                  <c:v>Android Tablet</c:v>
                </c:pt>
              </c:strCache>
            </c:strRef>
          </c:cat>
          <c:val>
            <c:numRef>
              <c:f>Sheet1!$B$2:$B$7</c:f>
              <c:numCache>
                <c:formatCode>General</c:formatCode>
                <c:ptCount val="6"/>
                <c:pt idx="0">
                  <c:v>3.4</c:v>
                </c:pt>
                <c:pt idx="1">
                  <c:v>2</c:v>
                </c:pt>
                <c:pt idx="2">
                  <c:v>0.6</c:v>
                </c:pt>
                <c:pt idx="3">
                  <c:v>0.5</c:v>
                </c:pt>
                <c:pt idx="4">
                  <c:v>0.4</c:v>
                </c:pt>
                <c:pt idx="5">
                  <c:v>0.3</c:v>
                </c:pt>
              </c:numCache>
            </c:numRef>
          </c:val>
          <c:extLst>
            <c:ext xmlns:c16="http://schemas.microsoft.com/office/drawing/2014/chart" uri="{C3380CC4-5D6E-409C-BE32-E72D297353CC}">
              <c16:uniqueId val="{0000000C-63AB-48A6-AF06-93B37F865989}"/>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84848"/>
                </a:solidFill>
                <a:latin typeface="+mn-lt"/>
              </a:defRPr>
            </a:pPr>
            <a:endParaRPr lang="en-US"/>
          </a:p>
        </c:txPr>
        <c:crossAx val="2094734552"/>
        <c:crosses val="autoZero"/>
        <c:auto val="1"/>
        <c:lblAlgn val="ctr"/>
        <c:lblOffset val="100"/>
        <c:noMultiLvlLbl val="1"/>
      </c:catAx>
      <c:valAx>
        <c:axId val="2094734552"/>
        <c:scaling>
          <c:orientation val="minMax"/>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1" i="0" u="none" strike="noStrike">
                <a:solidFill>
                  <a:srgbClr val="6B2328"/>
                </a:solidFill>
                <a:latin typeface="+mn-lt"/>
              </a:defRPr>
            </a:pPr>
            <a:r>
              <a:rPr lang="en-IN" sz="1400" b="1" i="0" u="none" strike="noStrike">
                <a:solidFill>
                  <a:srgbClr val="6B2328"/>
                </a:solidFill>
                <a:latin typeface="+mn-lt"/>
              </a:rPr>
              <a:t>Users by app (thousands)</a:t>
            </a:r>
          </a:p>
        </c:rich>
      </c:tx>
      <c:overlay val="0"/>
    </c:title>
    <c:autoTitleDeleted val="0"/>
    <c:plotArea>
      <c:layout/>
      <c:barChart>
        <c:barDir val="bar"/>
        <c:grouping val="clustered"/>
        <c:varyColors val="0"/>
        <c:ser>
          <c:idx val="0"/>
          <c:order val="0"/>
          <c:tx>
            <c:strRef>
              <c:f>Sheet1!$B$1</c:f>
              <c:strCache>
                <c:ptCount val="1"/>
                <c:pt idx="0">
                  <c:v>Users (K)</c:v>
                </c:pt>
              </c:strCache>
            </c:strRef>
          </c:tx>
          <c:spPr>
            <a:solidFill>
              <a:srgbClr val="A1343C"/>
            </a:solidFill>
            <a:effectLst/>
          </c:spPr>
          <c:invertIfNegative val="0"/>
          <c:dPt>
            <c:idx val="0"/>
            <c:invertIfNegative val="0"/>
            <c:bubble3D val="0"/>
            <c:extLst>
              <c:ext xmlns:c16="http://schemas.microsoft.com/office/drawing/2014/chart" uri="{C3380CC4-5D6E-409C-BE32-E72D297353CC}">
                <c16:uniqueId val="{00000001-8B38-45F4-BDFE-727FDE7D8524}"/>
              </c:ext>
            </c:extLst>
          </c:dPt>
          <c:dPt>
            <c:idx val="1"/>
            <c:invertIfNegative val="0"/>
            <c:bubble3D val="0"/>
            <c:spPr>
              <a:solidFill>
                <a:srgbClr val="767676"/>
              </a:solidFill>
              <a:effectLst/>
            </c:spPr>
            <c:extLst>
              <c:ext xmlns:c16="http://schemas.microsoft.com/office/drawing/2014/chart" uri="{C3380CC4-5D6E-409C-BE32-E72D297353CC}">
                <c16:uniqueId val="{00000003-8B38-45F4-BDFE-727FDE7D8524}"/>
              </c:ext>
            </c:extLst>
          </c:dPt>
          <c:dPt>
            <c:idx val="2"/>
            <c:invertIfNegative val="0"/>
            <c:bubble3D val="0"/>
            <c:spPr>
              <a:solidFill>
                <a:srgbClr val="767676"/>
              </a:solidFill>
              <a:effectLst/>
            </c:spPr>
            <c:extLst>
              <c:ext xmlns:c16="http://schemas.microsoft.com/office/drawing/2014/chart" uri="{C3380CC4-5D6E-409C-BE32-E72D297353CC}">
                <c16:uniqueId val="{00000005-8B38-45F4-BDFE-727FDE7D8524}"/>
              </c:ext>
            </c:extLst>
          </c:dPt>
          <c:dPt>
            <c:idx val="3"/>
            <c:invertIfNegative val="0"/>
            <c:bubble3D val="0"/>
            <c:spPr>
              <a:solidFill>
                <a:srgbClr val="767676"/>
              </a:solidFill>
              <a:effectLst/>
            </c:spPr>
            <c:extLst>
              <c:ext xmlns:c16="http://schemas.microsoft.com/office/drawing/2014/chart" uri="{C3380CC4-5D6E-409C-BE32-E72D297353CC}">
                <c16:uniqueId val="{00000007-8B38-45F4-BDFE-727FDE7D8524}"/>
              </c:ext>
            </c:extLst>
          </c:dPt>
          <c:dPt>
            <c:idx val="4"/>
            <c:invertIfNegative val="0"/>
            <c:bubble3D val="0"/>
            <c:spPr>
              <a:solidFill>
                <a:srgbClr val="767676"/>
              </a:solidFill>
              <a:effectLst/>
            </c:spPr>
            <c:extLst>
              <c:ext xmlns:c16="http://schemas.microsoft.com/office/drawing/2014/chart" uri="{C3380CC4-5D6E-409C-BE32-E72D297353CC}">
                <c16:uniqueId val="{00000009-8B38-45F4-BDFE-727FDE7D8524}"/>
              </c:ext>
            </c:extLst>
          </c:dPt>
          <c:dPt>
            <c:idx val="5"/>
            <c:invertIfNegative val="0"/>
            <c:bubble3D val="0"/>
            <c:spPr>
              <a:solidFill>
                <a:srgbClr val="767676"/>
              </a:solidFill>
              <a:effectLst/>
            </c:spPr>
            <c:extLst>
              <c:ext xmlns:c16="http://schemas.microsoft.com/office/drawing/2014/chart" uri="{C3380CC4-5D6E-409C-BE32-E72D297353CC}">
                <c16:uniqueId val="{0000000B-8B38-45F4-BDFE-727FDE7D8524}"/>
              </c:ext>
            </c:extLst>
          </c:dPt>
          <c:dPt>
            <c:idx val="6"/>
            <c:invertIfNegative val="0"/>
            <c:bubble3D val="0"/>
            <c:spPr>
              <a:solidFill>
                <a:srgbClr val="767676"/>
              </a:solidFill>
              <a:effectLst/>
            </c:spPr>
            <c:extLst>
              <c:ext xmlns:c16="http://schemas.microsoft.com/office/drawing/2014/chart" uri="{C3380CC4-5D6E-409C-BE32-E72D297353CC}">
                <c16:uniqueId val="{0000000D-8B38-45F4-BDFE-727FDE7D8524}"/>
              </c:ext>
            </c:extLst>
          </c:dPt>
          <c:dLbls>
            <c:numFmt formatCode="0.00&quot;K&quot;" sourceLinked="0"/>
            <c:spPr>
              <a:noFill/>
              <a:ln>
                <a:noFill/>
              </a:ln>
              <a:effectLst/>
            </c:spPr>
            <c:txPr>
              <a:bodyPr/>
              <a:lstStyle/>
              <a:p>
                <a:pPr>
                  <a:defRPr sz="1200" b="0" i="0" u="none" strike="noStrike">
                    <a:solidFill>
                      <a:srgbClr val="2B1416"/>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iOS</c:v>
                </c:pt>
                <c:pt idx="1">
                  <c:v>Web</c:v>
                </c:pt>
                <c:pt idx="2">
                  <c:v>Chrome</c:v>
                </c:pt>
                <c:pt idx="3">
                  <c:v>Moweb</c:v>
                </c:pt>
                <c:pt idx="4">
                  <c:v>Android</c:v>
                </c:pt>
                <c:pt idx="5">
                  <c:v>IE</c:v>
                </c:pt>
                <c:pt idx="6">
                  <c:v>Other</c:v>
                </c:pt>
              </c:strCache>
            </c:strRef>
          </c:cat>
          <c:val>
            <c:numRef>
              <c:f>Sheet1!$B$2:$B$8</c:f>
              <c:numCache>
                <c:formatCode>General</c:formatCode>
                <c:ptCount val="7"/>
                <c:pt idx="0">
                  <c:v>2.21</c:v>
                </c:pt>
                <c:pt idx="1">
                  <c:v>1.64</c:v>
                </c:pt>
                <c:pt idx="2">
                  <c:v>1.02</c:v>
                </c:pt>
                <c:pt idx="3">
                  <c:v>0.47</c:v>
                </c:pt>
                <c:pt idx="4">
                  <c:v>0.46</c:v>
                </c:pt>
                <c:pt idx="5">
                  <c:v>0.36</c:v>
                </c:pt>
                <c:pt idx="6">
                  <c:v>0.36</c:v>
                </c:pt>
              </c:numCache>
            </c:numRef>
          </c:val>
          <c:extLst>
            <c:ext xmlns:c16="http://schemas.microsoft.com/office/drawing/2014/chart" uri="{C3380CC4-5D6E-409C-BE32-E72D297353CC}">
              <c16:uniqueId val="{0000000E-8B38-45F4-BDFE-727FDE7D8524}"/>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84848"/>
                </a:solidFill>
                <a:latin typeface="+mn-lt"/>
              </a:defRPr>
            </a:pPr>
            <a:endParaRPr lang="en-US"/>
          </a:p>
        </c:txPr>
        <c:crossAx val="2094734552"/>
        <c:crosses val="autoZero"/>
        <c:auto val="1"/>
        <c:lblAlgn val="ctr"/>
        <c:lblOffset val="100"/>
        <c:noMultiLvlLbl val="1"/>
      </c:catAx>
      <c:valAx>
        <c:axId val="2094734552"/>
        <c:scaling>
          <c:orientation val="minMax"/>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1" i="0" u="none" strike="noStrike">
                <a:solidFill>
                  <a:srgbClr val="6B2328"/>
                </a:solidFill>
                <a:latin typeface="+mn-lt"/>
              </a:defRPr>
            </a:pPr>
            <a:r>
              <a:rPr lang="en-IN" sz="1400" b="1" i="0" u="none" strike="noStrike">
                <a:solidFill>
                  <a:srgbClr val="6B2328"/>
                </a:solidFill>
                <a:latin typeface="+mn-lt"/>
              </a:rPr>
              <a:t>Users by gender</a:t>
            </a:r>
          </a:p>
        </c:rich>
      </c:tx>
      <c:overlay val="0"/>
    </c:title>
    <c:autoTitleDeleted val="0"/>
    <c:plotArea>
      <c:layout/>
      <c:doughnutChart>
        <c:varyColors val="1"/>
        <c:ser>
          <c:idx val="0"/>
          <c:order val="0"/>
          <c:tx>
            <c:strRef>
              <c:f>Sheet1!$B$1</c:f>
              <c:strCache>
                <c:ptCount val="1"/>
                <c:pt idx="0">
                  <c:v>Users by gender</c:v>
                </c:pt>
              </c:strCache>
            </c:strRef>
          </c:tx>
          <c:spPr>
            <a:solidFill>
              <a:schemeClr val="accent1"/>
            </a:solidFill>
            <a:ln w="9525" cap="flat">
              <a:solidFill>
                <a:srgbClr val="F9F9F9"/>
              </a:solidFill>
              <a:prstDash val="solid"/>
              <a:round/>
            </a:ln>
            <a:effectLst/>
          </c:spPr>
          <c:dPt>
            <c:idx val="0"/>
            <c:bubble3D val="0"/>
            <c:spPr>
              <a:solidFill>
                <a:srgbClr val="A1343C"/>
              </a:solidFill>
              <a:ln w="25400" cap="flat">
                <a:solidFill>
                  <a:srgbClr val="FFFFFF"/>
                </a:solidFill>
                <a:prstDash val="solid"/>
                <a:round/>
              </a:ln>
              <a:effectLst/>
            </c:spPr>
            <c:extLst>
              <c:ext xmlns:c16="http://schemas.microsoft.com/office/drawing/2014/chart" uri="{C3380CC4-5D6E-409C-BE32-E72D297353CC}">
                <c16:uniqueId val="{00000001-0FFF-4F87-BB21-0FC505F860E0}"/>
              </c:ext>
            </c:extLst>
          </c:dPt>
          <c:dPt>
            <c:idx val="1"/>
            <c:bubble3D val="0"/>
            <c:spPr>
              <a:solidFill>
                <a:srgbClr val="767676"/>
              </a:solidFill>
              <a:ln w="25400" cap="flat">
                <a:solidFill>
                  <a:srgbClr val="FFFFFF"/>
                </a:solidFill>
                <a:prstDash val="solid"/>
                <a:round/>
              </a:ln>
              <a:effectLst/>
            </c:spPr>
            <c:extLst>
              <c:ext xmlns:c16="http://schemas.microsoft.com/office/drawing/2014/chart" uri="{C3380CC4-5D6E-409C-BE32-E72D297353CC}">
                <c16:uniqueId val="{00000003-0FFF-4F87-BB21-0FC505F860E0}"/>
              </c:ext>
            </c:extLst>
          </c:dPt>
          <c:dLbls>
            <c:dLbl>
              <c:idx val="0"/>
              <c:layout>
                <c:manualLayout>
                  <c:x val="0.14660493827160495"/>
                  <c:y val="0.10256410256410256"/>
                </c:manualLayout>
              </c:layout>
              <c:tx>
                <c:rich>
                  <a:bodyPr/>
                  <a:lstStyle/>
                  <a:p>
                    <a:pPr>
                      <a:defRPr sz="1400" b="1" i="0" u="none" strike="noStrike">
                        <a:solidFill>
                          <a:srgbClr val="FFFFFF"/>
                        </a:solidFill>
                        <a:latin typeface="+mn-lt"/>
                      </a:defRPr>
                    </a:pPr>
                    <a:fld id="{33F172D7-90CD-4CC1-90A9-CEF68B441DAC}" type="PERCENTAGE">
                      <a:rPr lang="en-US">
                        <a:solidFill>
                          <a:schemeClr val="tx1"/>
                        </a:solidFill>
                      </a:rPr>
                      <a:pPr>
                        <a:defRPr sz="1400" b="1" i="0" u="none" strike="noStrike">
                          <a:solidFill>
                            <a:srgbClr val="FFFFFF"/>
                          </a:solidFill>
                          <a:latin typeface="+mn-lt"/>
                        </a:defRPr>
                      </a:pPr>
                      <a:t>[PERCENTAGE]</a:t>
                    </a:fld>
                    <a:endParaRPr lang="en-IN"/>
                  </a:p>
                </c:rich>
              </c:tx>
              <c:numFmt formatCode="0.0%" sourceLinked="0"/>
              <c:spPr/>
              <c:showLegendKey val="0"/>
              <c:showVal val="0"/>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0FFF-4F87-BB21-0FC505F860E0}"/>
                </c:ext>
              </c:extLst>
            </c:dLbl>
            <c:dLbl>
              <c:idx val="1"/>
              <c:layout>
                <c:manualLayout>
                  <c:x val="-0.15432098765432098"/>
                  <c:y val="-0.1111111111111111"/>
                </c:manualLayout>
              </c:layout>
              <c:numFmt formatCode="0.0%" sourceLinked="0"/>
              <c:spPr/>
              <c:txPr>
                <a:bodyPr/>
                <a:lstStyle/>
                <a:p>
                  <a:pPr>
                    <a:defRPr sz="1400" b="1" i="0" u="none" strike="noStrike">
                      <a:solidFill>
                        <a:schemeClr val="tx1"/>
                      </a:solidFill>
                      <a:latin typeface="+mn-lt"/>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0FFF-4F87-BB21-0FC505F860E0}"/>
                </c:ext>
              </c:extLst>
            </c:dLbl>
            <c:numFmt formatCode="0.0%" sourceLinked="0"/>
            <c:spPr>
              <a:noFill/>
              <a:ln>
                <a:noFill/>
              </a:ln>
              <a:effectLst/>
            </c:spPr>
            <c:txPr>
              <a:bodyPr/>
              <a:lstStyle/>
              <a:p>
                <a:pPr>
                  <a:defRPr sz="1800" b="1"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Female</c:v>
                </c:pt>
                <c:pt idx="1">
                  <c:v>Male</c:v>
                </c:pt>
              </c:strCache>
            </c:strRef>
          </c:cat>
          <c:val>
            <c:numRef>
              <c:f>Sheet1!$B$2:$B$3</c:f>
              <c:numCache>
                <c:formatCode>General</c:formatCode>
                <c:ptCount val="2"/>
                <c:pt idx="0">
                  <c:v>56.1</c:v>
                </c:pt>
                <c:pt idx="1">
                  <c:v>43.9</c:v>
                </c:pt>
              </c:numCache>
            </c:numRef>
          </c:val>
          <c:extLst>
            <c:ext xmlns:c16="http://schemas.microsoft.com/office/drawing/2014/chart" uri="{C3380CC4-5D6E-409C-BE32-E72D297353CC}">
              <c16:uniqueId val="{00000004-0FFF-4F87-BB21-0FC505F860E0}"/>
            </c:ext>
          </c:extLst>
        </c:ser>
        <c:dLbls>
          <c:showLegendKey val="0"/>
          <c:showVal val="0"/>
          <c:showCatName val="0"/>
          <c:showSerName val="0"/>
          <c:showPercent val="0"/>
          <c:showBubbleSize val="0"/>
          <c:showLeaderLines val="0"/>
        </c:dLbls>
        <c:firstSliceAng val="0"/>
        <c:holeSize val="55"/>
      </c:doughnutChart>
      <c:spPr>
        <a:noFill/>
        <a:ln>
          <a:noFill/>
        </a:ln>
        <a:effectLst/>
      </c:spPr>
    </c:plotArea>
    <c:legend>
      <c:legendPos val="b"/>
      <c:overlay val="0"/>
      <c:txPr>
        <a:bodyPr/>
        <a:lstStyle/>
        <a:p>
          <a:pPr>
            <a:defRPr sz="1200">
              <a:solidFill>
                <a:srgbClr val="484848"/>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1" i="0" u="none" strike="noStrike">
                <a:solidFill>
                  <a:srgbClr val="6B2328"/>
                </a:solidFill>
                <a:latin typeface="+mn-lt"/>
              </a:defRPr>
            </a:pPr>
            <a:r>
              <a:rPr lang="en-US" sz="1400" b="1" i="0" u="none" strike="noStrike">
                <a:solidFill>
                  <a:srgbClr val="6B2328"/>
                </a:solidFill>
                <a:latin typeface="+mn-lt"/>
              </a:rPr>
              <a:t>Sessions by day (Monday = 100)</a:t>
            </a:r>
          </a:p>
        </c:rich>
      </c:tx>
      <c:overlay val="0"/>
    </c:title>
    <c:autoTitleDeleted val="0"/>
    <c:plotArea>
      <c:layout/>
      <c:barChart>
        <c:barDir val="col"/>
        <c:grouping val="clustered"/>
        <c:varyColors val="0"/>
        <c:ser>
          <c:idx val="0"/>
          <c:order val="0"/>
          <c:tx>
            <c:strRef>
              <c:f>Sheet1!$B$1</c:f>
              <c:strCache>
                <c:ptCount val="1"/>
                <c:pt idx="0">
                  <c:v>Sessions index</c:v>
                </c:pt>
              </c:strCache>
            </c:strRef>
          </c:tx>
          <c:spPr>
            <a:solidFill>
              <a:srgbClr val="A1343C"/>
            </a:solidFill>
            <a:effectLst/>
          </c:spPr>
          <c:invertIfNegative val="0"/>
          <c:dPt>
            <c:idx val="0"/>
            <c:invertIfNegative val="0"/>
            <c:bubble3D val="0"/>
            <c:extLst>
              <c:ext xmlns:c16="http://schemas.microsoft.com/office/drawing/2014/chart" uri="{C3380CC4-5D6E-409C-BE32-E72D297353CC}">
                <c16:uniqueId val="{00000001-179C-4A53-BFCC-E004190B0902}"/>
              </c:ext>
            </c:extLst>
          </c:dPt>
          <c:dPt>
            <c:idx val="1"/>
            <c:invertIfNegative val="0"/>
            <c:bubble3D val="0"/>
            <c:spPr>
              <a:solidFill>
                <a:srgbClr val="F2B8BB"/>
              </a:solidFill>
              <a:effectLst/>
            </c:spPr>
            <c:extLst>
              <c:ext xmlns:c16="http://schemas.microsoft.com/office/drawing/2014/chart" uri="{C3380CC4-5D6E-409C-BE32-E72D297353CC}">
                <c16:uniqueId val="{00000003-179C-4A53-BFCC-E004190B0902}"/>
              </c:ext>
            </c:extLst>
          </c:dPt>
          <c:dPt>
            <c:idx val="2"/>
            <c:invertIfNegative val="0"/>
            <c:bubble3D val="0"/>
            <c:extLst>
              <c:ext xmlns:c16="http://schemas.microsoft.com/office/drawing/2014/chart" uri="{C3380CC4-5D6E-409C-BE32-E72D297353CC}">
                <c16:uniqueId val="{00000005-179C-4A53-BFCC-E004190B0902}"/>
              </c:ext>
            </c:extLst>
          </c:dPt>
          <c:dPt>
            <c:idx val="3"/>
            <c:invertIfNegative val="0"/>
            <c:bubble3D val="0"/>
            <c:spPr>
              <a:solidFill>
                <a:srgbClr val="F2B8BB"/>
              </a:solidFill>
              <a:effectLst/>
            </c:spPr>
            <c:extLst>
              <c:ext xmlns:c16="http://schemas.microsoft.com/office/drawing/2014/chart" uri="{C3380CC4-5D6E-409C-BE32-E72D297353CC}">
                <c16:uniqueId val="{00000007-179C-4A53-BFCC-E004190B0902}"/>
              </c:ext>
            </c:extLst>
          </c:dPt>
          <c:dPt>
            <c:idx val="4"/>
            <c:invertIfNegative val="0"/>
            <c:bubble3D val="0"/>
            <c:spPr>
              <a:solidFill>
                <a:srgbClr val="F2B8BB"/>
              </a:solidFill>
              <a:effectLst/>
            </c:spPr>
            <c:extLst>
              <c:ext xmlns:c16="http://schemas.microsoft.com/office/drawing/2014/chart" uri="{C3380CC4-5D6E-409C-BE32-E72D297353CC}">
                <c16:uniqueId val="{00000009-179C-4A53-BFCC-E004190B0902}"/>
              </c:ext>
            </c:extLst>
          </c:dPt>
          <c:dPt>
            <c:idx val="5"/>
            <c:invertIfNegative val="0"/>
            <c:bubble3D val="0"/>
            <c:spPr>
              <a:solidFill>
                <a:srgbClr val="767676"/>
              </a:solidFill>
              <a:effectLst/>
            </c:spPr>
            <c:extLst>
              <c:ext xmlns:c16="http://schemas.microsoft.com/office/drawing/2014/chart" uri="{C3380CC4-5D6E-409C-BE32-E72D297353CC}">
                <c16:uniqueId val="{0000000B-179C-4A53-BFCC-E004190B0902}"/>
              </c:ext>
            </c:extLst>
          </c:dPt>
          <c:dPt>
            <c:idx val="6"/>
            <c:invertIfNegative val="0"/>
            <c:bubble3D val="0"/>
            <c:spPr>
              <a:solidFill>
                <a:srgbClr val="767676"/>
              </a:solidFill>
              <a:effectLst/>
            </c:spPr>
            <c:extLst>
              <c:ext xmlns:c16="http://schemas.microsoft.com/office/drawing/2014/chart" uri="{C3380CC4-5D6E-409C-BE32-E72D297353CC}">
                <c16:uniqueId val="{0000000D-179C-4A53-BFCC-E004190B0902}"/>
              </c:ext>
            </c:extLst>
          </c:dPt>
          <c:dLbls>
            <c:numFmt formatCode="0" sourceLinked="0"/>
            <c:spPr>
              <a:noFill/>
              <a:ln>
                <a:noFill/>
              </a:ln>
              <a:effectLst/>
            </c:spPr>
            <c:txPr>
              <a:bodyPr/>
              <a:lstStyle/>
              <a:p>
                <a:pPr>
                  <a:defRPr sz="1200" b="0" i="0" u="none" strike="noStrike">
                    <a:solidFill>
                      <a:srgbClr val="2B1416"/>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Mon</c:v>
                </c:pt>
                <c:pt idx="1">
                  <c:v>Tue</c:v>
                </c:pt>
                <c:pt idx="2">
                  <c:v>Wed</c:v>
                </c:pt>
                <c:pt idx="3">
                  <c:v>Thu</c:v>
                </c:pt>
                <c:pt idx="4">
                  <c:v>Fri</c:v>
                </c:pt>
                <c:pt idx="5">
                  <c:v>Sat</c:v>
                </c:pt>
                <c:pt idx="6">
                  <c:v>Sun</c:v>
                </c:pt>
              </c:strCache>
            </c:strRef>
          </c:cat>
          <c:val>
            <c:numRef>
              <c:f>Sheet1!$B$2:$B$8</c:f>
              <c:numCache>
                <c:formatCode>General</c:formatCode>
                <c:ptCount val="7"/>
                <c:pt idx="0">
                  <c:v>100</c:v>
                </c:pt>
                <c:pt idx="1">
                  <c:v>92</c:v>
                </c:pt>
                <c:pt idx="2">
                  <c:v>95</c:v>
                </c:pt>
                <c:pt idx="3">
                  <c:v>84</c:v>
                </c:pt>
                <c:pt idx="4">
                  <c:v>77</c:v>
                </c:pt>
                <c:pt idx="5">
                  <c:v>73</c:v>
                </c:pt>
                <c:pt idx="6">
                  <c:v>75</c:v>
                </c:pt>
              </c:numCache>
            </c:numRef>
          </c:val>
          <c:extLst>
            <c:ext xmlns:c16="http://schemas.microsoft.com/office/drawing/2014/chart" uri="{C3380CC4-5D6E-409C-BE32-E72D297353CC}">
              <c16:uniqueId val="{0000000E-179C-4A53-BFCC-E004190B0902}"/>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84848"/>
                </a:solidFill>
                <a:latin typeface="+mn-lt"/>
              </a:defRPr>
            </a:pPr>
            <a:endParaRPr lang="en-US"/>
          </a:p>
        </c:txPr>
        <c:crossAx val="2094734552"/>
        <c:crosses val="autoZero"/>
        <c:auto val="1"/>
        <c:lblAlgn val="ctr"/>
        <c:lblOffset val="100"/>
        <c:noMultiLvlLbl val="1"/>
      </c:catAx>
      <c:valAx>
        <c:axId val="2094734552"/>
        <c:scaling>
          <c:orientation val="minMax"/>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1" i="0" u="none" strike="noStrike">
                <a:solidFill>
                  <a:srgbClr val="6B2328"/>
                </a:solidFill>
                <a:latin typeface="+mn-lt"/>
              </a:defRPr>
            </a:pPr>
            <a:r>
              <a:rPr lang="en-IN" sz="1400" b="1" i="0" u="none" strike="noStrike">
                <a:solidFill>
                  <a:srgbClr val="6B2328"/>
                </a:solidFill>
                <a:latin typeface="+mn-lt"/>
              </a:rPr>
              <a:t>Conversion rate by device (%)</a:t>
            </a:r>
          </a:p>
        </c:rich>
      </c:tx>
      <c:overlay val="0"/>
    </c:title>
    <c:autoTitleDeleted val="0"/>
    <c:plotArea>
      <c:layout/>
      <c:barChart>
        <c:barDir val="bar"/>
        <c:grouping val="clustered"/>
        <c:varyColors val="0"/>
        <c:ser>
          <c:idx val="0"/>
          <c:order val="0"/>
          <c:tx>
            <c:strRef>
              <c:f>Sheet1!$B$1</c:f>
              <c:strCache>
                <c:ptCount val="1"/>
                <c:pt idx="0">
                  <c:v>Conversion %</c:v>
                </c:pt>
              </c:strCache>
            </c:strRef>
          </c:tx>
          <c:spPr>
            <a:solidFill>
              <a:srgbClr val="767676"/>
            </a:solidFill>
            <a:effectLst/>
          </c:spPr>
          <c:invertIfNegative val="0"/>
          <c:dPt>
            <c:idx val="0"/>
            <c:invertIfNegative val="0"/>
            <c:bubble3D val="0"/>
            <c:extLst>
              <c:ext xmlns:c16="http://schemas.microsoft.com/office/drawing/2014/chart" uri="{C3380CC4-5D6E-409C-BE32-E72D297353CC}">
                <c16:uniqueId val="{00000001-2D1A-4A1C-ACD5-97A88AC864D0}"/>
              </c:ext>
            </c:extLst>
          </c:dPt>
          <c:dPt>
            <c:idx val="1"/>
            <c:invertIfNegative val="0"/>
            <c:bubble3D val="0"/>
            <c:extLst>
              <c:ext xmlns:c16="http://schemas.microsoft.com/office/drawing/2014/chart" uri="{C3380CC4-5D6E-409C-BE32-E72D297353CC}">
                <c16:uniqueId val="{00000003-2D1A-4A1C-ACD5-97A88AC864D0}"/>
              </c:ext>
            </c:extLst>
          </c:dPt>
          <c:dPt>
            <c:idx val="2"/>
            <c:invertIfNegative val="0"/>
            <c:bubble3D val="0"/>
            <c:extLst>
              <c:ext xmlns:c16="http://schemas.microsoft.com/office/drawing/2014/chart" uri="{C3380CC4-5D6E-409C-BE32-E72D297353CC}">
                <c16:uniqueId val="{00000005-2D1A-4A1C-ACD5-97A88AC864D0}"/>
              </c:ext>
            </c:extLst>
          </c:dPt>
          <c:dPt>
            <c:idx val="3"/>
            <c:invertIfNegative val="0"/>
            <c:bubble3D val="0"/>
            <c:spPr>
              <a:solidFill>
                <a:srgbClr val="A1343C"/>
              </a:solidFill>
              <a:effectLst/>
            </c:spPr>
            <c:extLst>
              <c:ext xmlns:c16="http://schemas.microsoft.com/office/drawing/2014/chart" uri="{C3380CC4-5D6E-409C-BE32-E72D297353CC}">
                <c16:uniqueId val="{00000007-2D1A-4A1C-ACD5-97A88AC864D0}"/>
              </c:ext>
            </c:extLst>
          </c:dPt>
          <c:dPt>
            <c:idx val="4"/>
            <c:invertIfNegative val="0"/>
            <c:bubble3D val="0"/>
            <c:extLst>
              <c:ext xmlns:c16="http://schemas.microsoft.com/office/drawing/2014/chart" uri="{C3380CC4-5D6E-409C-BE32-E72D297353CC}">
                <c16:uniqueId val="{00000009-2D1A-4A1C-ACD5-97A88AC864D0}"/>
              </c:ext>
            </c:extLst>
          </c:dPt>
          <c:dPt>
            <c:idx val="5"/>
            <c:invertIfNegative val="0"/>
            <c:bubble3D val="0"/>
            <c:extLst>
              <c:ext xmlns:c16="http://schemas.microsoft.com/office/drawing/2014/chart" uri="{C3380CC4-5D6E-409C-BE32-E72D297353CC}">
                <c16:uniqueId val="{0000000B-2D1A-4A1C-ACD5-97A88AC864D0}"/>
              </c:ext>
            </c:extLst>
          </c:dPt>
          <c:dLbls>
            <c:numFmt formatCode="0&quot;%&quot;" sourceLinked="0"/>
            <c:spPr>
              <a:noFill/>
              <a:ln>
                <a:noFill/>
              </a:ln>
              <a:effectLst/>
            </c:spPr>
            <c:txPr>
              <a:bodyPr/>
              <a:lstStyle/>
              <a:p>
                <a:pPr>
                  <a:defRPr sz="1200" b="0" i="0" u="none" strike="noStrike">
                    <a:solidFill>
                      <a:srgbClr val="2B1416"/>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Desktop</c:v>
                </c:pt>
                <c:pt idx="1">
                  <c:v>iPad</c:v>
                </c:pt>
                <c:pt idx="2">
                  <c:v>Android Phone</c:v>
                </c:pt>
                <c:pt idx="3">
                  <c:v>iPhone</c:v>
                </c:pt>
                <c:pt idx="4">
                  <c:v>Other</c:v>
                </c:pt>
                <c:pt idx="5">
                  <c:v>Android Tablet</c:v>
                </c:pt>
              </c:strCache>
            </c:strRef>
          </c:cat>
          <c:val>
            <c:numRef>
              <c:f>Sheet1!$B$2:$B$7</c:f>
              <c:numCache>
                <c:formatCode>General</c:formatCode>
                <c:ptCount val="6"/>
                <c:pt idx="0">
                  <c:v>47</c:v>
                </c:pt>
                <c:pt idx="1">
                  <c:v>46</c:v>
                </c:pt>
                <c:pt idx="2">
                  <c:v>40</c:v>
                </c:pt>
                <c:pt idx="3">
                  <c:v>21</c:v>
                </c:pt>
                <c:pt idx="4">
                  <c:v>16</c:v>
                </c:pt>
                <c:pt idx="5">
                  <c:v>13</c:v>
                </c:pt>
              </c:numCache>
            </c:numRef>
          </c:val>
          <c:extLst>
            <c:ext xmlns:c16="http://schemas.microsoft.com/office/drawing/2014/chart" uri="{C3380CC4-5D6E-409C-BE32-E72D297353CC}">
              <c16:uniqueId val="{0000000C-2D1A-4A1C-ACD5-97A88AC864D0}"/>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84848"/>
                </a:solidFill>
                <a:latin typeface="+mn-lt"/>
              </a:defRPr>
            </a:pPr>
            <a:endParaRPr lang="en-US"/>
          </a:p>
        </c:txPr>
        <c:crossAx val="2094734552"/>
        <c:crosses val="autoZero"/>
        <c:auto val="1"/>
        <c:lblAlgn val="ctr"/>
        <c:lblOffset val="100"/>
        <c:noMultiLvlLbl val="1"/>
      </c:catAx>
      <c:valAx>
        <c:axId val="2094734552"/>
        <c:scaling>
          <c:orientation val="minMax"/>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1" i="0" u="none" strike="noStrike">
                <a:solidFill>
                  <a:srgbClr val="6B2328"/>
                </a:solidFill>
                <a:latin typeface="+mn-lt"/>
              </a:defRPr>
            </a:pPr>
            <a:r>
              <a:rPr lang="en-US" sz="1400" b="1" i="0" u="none" strike="noStrike">
                <a:solidFill>
                  <a:srgbClr val="6B2328"/>
                </a:solidFill>
                <a:latin typeface="+mn-lt"/>
              </a:rPr>
              <a:t>Desktop: conversion by browser/app (%)</a:t>
            </a:r>
          </a:p>
        </c:rich>
      </c:tx>
      <c:overlay val="0"/>
    </c:title>
    <c:autoTitleDeleted val="0"/>
    <c:plotArea>
      <c:layout/>
      <c:barChart>
        <c:barDir val="bar"/>
        <c:grouping val="clustered"/>
        <c:varyColors val="0"/>
        <c:ser>
          <c:idx val="0"/>
          <c:order val="0"/>
          <c:tx>
            <c:strRef>
              <c:f>Sheet1!$B$1</c:f>
              <c:strCache>
                <c:ptCount val="1"/>
                <c:pt idx="0">
                  <c:v>Conversion %</c:v>
                </c:pt>
              </c:strCache>
            </c:strRef>
          </c:tx>
          <c:spPr>
            <a:solidFill>
              <a:srgbClr val="767676"/>
            </a:solidFill>
            <a:effectLst/>
          </c:spPr>
          <c:invertIfNegative val="0"/>
          <c:dPt>
            <c:idx val="0"/>
            <c:invertIfNegative val="0"/>
            <c:bubble3D val="0"/>
            <c:extLst>
              <c:ext xmlns:c16="http://schemas.microsoft.com/office/drawing/2014/chart" uri="{C3380CC4-5D6E-409C-BE32-E72D297353CC}">
                <c16:uniqueId val="{00000001-7390-4DEF-AEEE-16D9F70C299A}"/>
              </c:ext>
            </c:extLst>
          </c:dPt>
          <c:dPt>
            <c:idx val="1"/>
            <c:invertIfNegative val="0"/>
            <c:bubble3D val="0"/>
            <c:extLst>
              <c:ext xmlns:c16="http://schemas.microsoft.com/office/drawing/2014/chart" uri="{C3380CC4-5D6E-409C-BE32-E72D297353CC}">
                <c16:uniqueId val="{00000003-7390-4DEF-AEEE-16D9F70C299A}"/>
              </c:ext>
            </c:extLst>
          </c:dPt>
          <c:dPt>
            <c:idx val="2"/>
            <c:invertIfNegative val="0"/>
            <c:bubble3D val="0"/>
            <c:extLst>
              <c:ext xmlns:c16="http://schemas.microsoft.com/office/drawing/2014/chart" uri="{C3380CC4-5D6E-409C-BE32-E72D297353CC}">
                <c16:uniqueId val="{00000005-7390-4DEF-AEEE-16D9F70C299A}"/>
              </c:ext>
            </c:extLst>
          </c:dPt>
          <c:dPt>
            <c:idx val="3"/>
            <c:invertIfNegative val="0"/>
            <c:bubble3D val="0"/>
            <c:extLst>
              <c:ext xmlns:c16="http://schemas.microsoft.com/office/drawing/2014/chart" uri="{C3380CC4-5D6E-409C-BE32-E72D297353CC}">
                <c16:uniqueId val="{00000007-7390-4DEF-AEEE-16D9F70C299A}"/>
              </c:ext>
            </c:extLst>
          </c:dPt>
          <c:dPt>
            <c:idx val="4"/>
            <c:invertIfNegative val="0"/>
            <c:bubble3D val="0"/>
            <c:extLst>
              <c:ext xmlns:c16="http://schemas.microsoft.com/office/drawing/2014/chart" uri="{C3380CC4-5D6E-409C-BE32-E72D297353CC}">
                <c16:uniqueId val="{00000009-7390-4DEF-AEEE-16D9F70C299A}"/>
              </c:ext>
            </c:extLst>
          </c:dPt>
          <c:dPt>
            <c:idx val="5"/>
            <c:invertIfNegative val="0"/>
            <c:bubble3D val="0"/>
            <c:extLst>
              <c:ext xmlns:c16="http://schemas.microsoft.com/office/drawing/2014/chart" uri="{C3380CC4-5D6E-409C-BE32-E72D297353CC}">
                <c16:uniqueId val="{0000000B-7390-4DEF-AEEE-16D9F70C299A}"/>
              </c:ext>
            </c:extLst>
          </c:dPt>
          <c:dPt>
            <c:idx val="6"/>
            <c:invertIfNegative val="0"/>
            <c:bubble3D val="0"/>
            <c:spPr>
              <a:solidFill>
                <a:srgbClr val="A1343C"/>
              </a:solidFill>
              <a:effectLst/>
            </c:spPr>
            <c:extLst>
              <c:ext xmlns:c16="http://schemas.microsoft.com/office/drawing/2014/chart" uri="{C3380CC4-5D6E-409C-BE32-E72D297353CC}">
                <c16:uniqueId val="{0000000D-7390-4DEF-AEEE-16D9F70C299A}"/>
              </c:ext>
            </c:extLst>
          </c:dPt>
          <c:dPt>
            <c:idx val="7"/>
            <c:invertIfNegative val="0"/>
            <c:bubble3D val="0"/>
            <c:spPr>
              <a:solidFill>
                <a:srgbClr val="A1343C"/>
              </a:solidFill>
              <a:effectLst/>
            </c:spPr>
            <c:extLst>
              <c:ext xmlns:c16="http://schemas.microsoft.com/office/drawing/2014/chart" uri="{C3380CC4-5D6E-409C-BE32-E72D297353CC}">
                <c16:uniqueId val="{0000000F-7390-4DEF-AEEE-16D9F70C299A}"/>
              </c:ext>
            </c:extLst>
          </c:dPt>
          <c:dLbls>
            <c:numFmt formatCode="0&quot;%&quot;" sourceLinked="0"/>
            <c:spPr>
              <a:noFill/>
              <a:ln>
                <a:noFill/>
              </a:ln>
              <a:effectLst/>
            </c:spPr>
            <c:txPr>
              <a:bodyPr/>
              <a:lstStyle/>
              <a:p>
                <a:pPr>
                  <a:defRPr sz="1200" b="0" i="0" u="none" strike="noStrike">
                    <a:solidFill>
                      <a:srgbClr val="2B1416"/>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Firefox</c:v>
                </c:pt>
                <c:pt idx="1">
                  <c:v>Chrome</c:v>
                </c:pt>
                <c:pt idx="2">
                  <c:v>Android</c:v>
                </c:pt>
                <c:pt idx="3">
                  <c:v>Safari</c:v>
                </c:pt>
                <c:pt idx="4">
                  <c:v>IE</c:v>
                </c:pt>
                <c:pt idx="5">
                  <c:v>iOS</c:v>
                </c:pt>
                <c:pt idx="6">
                  <c:v>Web</c:v>
                </c:pt>
                <c:pt idx="7">
                  <c:v>Moweb</c:v>
                </c:pt>
              </c:strCache>
            </c:strRef>
          </c:cat>
          <c:val>
            <c:numRef>
              <c:f>Sheet1!$B$2:$B$9</c:f>
              <c:numCache>
                <c:formatCode>General</c:formatCode>
                <c:ptCount val="8"/>
                <c:pt idx="0">
                  <c:v>70</c:v>
                </c:pt>
                <c:pt idx="1">
                  <c:v>53</c:v>
                </c:pt>
                <c:pt idx="2">
                  <c:v>50</c:v>
                </c:pt>
                <c:pt idx="3">
                  <c:v>49</c:v>
                </c:pt>
                <c:pt idx="4">
                  <c:v>42</c:v>
                </c:pt>
                <c:pt idx="5">
                  <c:v>38</c:v>
                </c:pt>
                <c:pt idx="6">
                  <c:v>13</c:v>
                </c:pt>
                <c:pt idx="7">
                  <c:v>12</c:v>
                </c:pt>
              </c:numCache>
            </c:numRef>
          </c:val>
          <c:extLst>
            <c:ext xmlns:c16="http://schemas.microsoft.com/office/drawing/2014/chart" uri="{C3380CC4-5D6E-409C-BE32-E72D297353CC}">
              <c16:uniqueId val="{00000010-7390-4DEF-AEEE-16D9F70C299A}"/>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84848"/>
                </a:solidFill>
                <a:latin typeface="+mn-lt"/>
              </a:defRPr>
            </a:pPr>
            <a:endParaRPr lang="en-US"/>
          </a:p>
        </c:txPr>
        <c:crossAx val="2094734552"/>
        <c:crosses val="autoZero"/>
        <c:auto val="1"/>
        <c:lblAlgn val="ctr"/>
        <c:lblOffset val="100"/>
        <c:noMultiLvlLbl val="1"/>
      </c:catAx>
      <c:valAx>
        <c:axId val="2094734552"/>
        <c:scaling>
          <c:orientation val="minMax"/>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1" i="0" u="none" strike="noStrike">
                <a:solidFill>
                  <a:srgbClr val="6B2328"/>
                </a:solidFill>
                <a:latin typeface="+mn-lt"/>
              </a:defRPr>
            </a:pPr>
            <a:r>
              <a:rPr lang="en-US" sz="1400" b="1" i="0" u="none" strike="noStrike">
                <a:solidFill>
                  <a:srgbClr val="6B2328"/>
                </a:solidFill>
                <a:latin typeface="+mn-lt"/>
              </a:rPr>
              <a:t>Potential customers lost before booking, by device</a:t>
            </a:r>
          </a:p>
        </c:rich>
      </c:tx>
      <c:overlay val="0"/>
    </c:title>
    <c:autoTitleDeleted val="0"/>
    <c:plotArea>
      <c:layout/>
      <c:barChart>
        <c:barDir val="bar"/>
        <c:grouping val="clustered"/>
        <c:varyColors val="0"/>
        <c:ser>
          <c:idx val="0"/>
          <c:order val="0"/>
          <c:tx>
            <c:strRef>
              <c:f>Sheet1!$B$1</c:f>
              <c:strCache>
                <c:ptCount val="1"/>
                <c:pt idx="0">
                  <c:v>Retargeting pool</c:v>
                </c:pt>
              </c:strCache>
            </c:strRef>
          </c:tx>
          <c:spPr>
            <a:solidFill>
              <a:srgbClr val="A1343C"/>
            </a:solidFill>
            <a:effectLst/>
          </c:spPr>
          <c:invertIfNegative val="0"/>
          <c:dPt>
            <c:idx val="0"/>
            <c:invertIfNegative val="0"/>
            <c:bubble3D val="0"/>
            <c:extLst>
              <c:ext xmlns:c16="http://schemas.microsoft.com/office/drawing/2014/chart" uri="{C3380CC4-5D6E-409C-BE32-E72D297353CC}">
                <c16:uniqueId val="{00000001-8CC9-4D00-89D8-0EDF688516DE}"/>
              </c:ext>
            </c:extLst>
          </c:dPt>
          <c:dPt>
            <c:idx val="1"/>
            <c:invertIfNegative val="0"/>
            <c:bubble3D val="0"/>
            <c:spPr>
              <a:solidFill>
                <a:srgbClr val="767676"/>
              </a:solidFill>
              <a:effectLst/>
            </c:spPr>
            <c:extLst>
              <c:ext xmlns:c16="http://schemas.microsoft.com/office/drawing/2014/chart" uri="{C3380CC4-5D6E-409C-BE32-E72D297353CC}">
                <c16:uniqueId val="{00000003-8CC9-4D00-89D8-0EDF688516DE}"/>
              </c:ext>
            </c:extLst>
          </c:dPt>
          <c:dPt>
            <c:idx val="2"/>
            <c:invertIfNegative val="0"/>
            <c:bubble3D val="0"/>
            <c:spPr>
              <a:solidFill>
                <a:srgbClr val="767676"/>
              </a:solidFill>
              <a:effectLst/>
            </c:spPr>
            <c:extLst>
              <c:ext xmlns:c16="http://schemas.microsoft.com/office/drawing/2014/chart" uri="{C3380CC4-5D6E-409C-BE32-E72D297353CC}">
                <c16:uniqueId val="{00000005-8CC9-4D00-89D8-0EDF688516DE}"/>
              </c:ext>
            </c:extLst>
          </c:dPt>
          <c:dPt>
            <c:idx val="3"/>
            <c:invertIfNegative val="0"/>
            <c:bubble3D val="0"/>
            <c:spPr>
              <a:solidFill>
                <a:srgbClr val="767676"/>
              </a:solidFill>
              <a:effectLst/>
            </c:spPr>
            <c:extLst>
              <c:ext xmlns:c16="http://schemas.microsoft.com/office/drawing/2014/chart" uri="{C3380CC4-5D6E-409C-BE32-E72D297353CC}">
                <c16:uniqueId val="{00000007-8CC9-4D00-89D8-0EDF688516DE}"/>
              </c:ext>
            </c:extLst>
          </c:dPt>
          <c:dPt>
            <c:idx val="4"/>
            <c:invertIfNegative val="0"/>
            <c:bubble3D val="0"/>
            <c:spPr>
              <a:solidFill>
                <a:srgbClr val="767676"/>
              </a:solidFill>
              <a:effectLst/>
            </c:spPr>
            <c:extLst>
              <c:ext xmlns:c16="http://schemas.microsoft.com/office/drawing/2014/chart" uri="{C3380CC4-5D6E-409C-BE32-E72D297353CC}">
                <c16:uniqueId val="{00000009-8CC9-4D00-89D8-0EDF688516DE}"/>
              </c:ext>
            </c:extLst>
          </c:dPt>
          <c:dPt>
            <c:idx val="5"/>
            <c:invertIfNegative val="0"/>
            <c:bubble3D val="0"/>
            <c:spPr>
              <a:solidFill>
                <a:srgbClr val="767676"/>
              </a:solidFill>
              <a:effectLst/>
            </c:spPr>
            <c:extLst>
              <c:ext xmlns:c16="http://schemas.microsoft.com/office/drawing/2014/chart" uri="{C3380CC4-5D6E-409C-BE32-E72D297353CC}">
                <c16:uniqueId val="{0000000B-8CC9-4D00-89D8-0EDF688516DE}"/>
              </c:ext>
            </c:extLst>
          </c:dPt>
          <c:dLbls>
            <c:numFmt formatCode="#,##0" sourceLinked="0"/>
            <c:spPr>
              <a:noFill/>
              <a:ln>
                <a:noFill/>
              </a:ln>
              <a:effectLst/>
            </c:spPr>
            <c:txPr>
              <a:bodyPr/>
              <a:lstStyle/>
              <a:p>
                <a:pPr>
                  <a:defRPr sz="1200" b="0" i="0" u="none" strike="noStrike">
                    <a:solidFill>
                      <a:srgbClr val="2B1416"/>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iPhone</c:v>
                </c:pt>
                <c:pt idx="1">
                  <c:v>Desktop</c:v>
                </c:pt>
                <c:pt idx="2">
                  <c:v>Other</c:v>
                </c:pt>
                <c:pt idx="3">
                  <c:v>Android Phone</c:v>
                </c:pt>
                <c:pt idx="4">
                  <c:v>iPad</c:v>
                </c:pt>
                <c:pt idx="5">
                  <c:v>Android Tablet</c:v>
                </c:pt>
              </c:strCache>
            </c:strRef>
          </c:cat>
          <c:val>
            <c:numRef>
              <c:f>Sheet1!$B$2:$B$7</c:f>
              <c:numCache>
                <c:formatCode>General</c:formatCode>
                <c:ptCount val="6"/>
                <c:pt idx="0">
                  <c:v>885</c:v>
                </c:pt>
                <c:pt idx="1">
                  <c:v>465</c:v>
                </c:pt>
                <c:pt idx="2">
                  <c:v>220</c:v>
                </c:pt>
                <c:pt idx="3">
                  <c:v>130</c:v>
                </c:pt>
                <c:pt idx="4">
                  <c:v>120</c:v>
                </c:pt>
                <c:pt idx="5">
                  <c:v>100</c:v>
                </c:pt>
              </c:numCache>
            </c:numRef>
          </c:val>
          <c:extLst>
            <c:ext xmlns:c16="http://schemas.microsoft.com/office/drawing/2014/chart" uri="{C3380CC4-5D6E-409C-BE32-E72D297353CC}">
              <c16:uniqueId val="{0000000C-8CC9-4D00-89D8-0EDF688516DE}"/>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84848"/>
                </a:solidFill>
                <a:latin typeface="+mn-lt"/>
              </a:defRPr>
            </a:pPr>
            <a:endParaRPr lang="en-US"/>
          </a:p>
        </c:txPr>
        <c:crossAx val="2094734552"/>
        <c:crosses val="autoZero"/>
        <c:auto val="1"/>
        <c:lblAlgn val="ctr"/>
        <c:lblOffset val="100"/>
        <c:noMultiLvlLbl val="1"/>
      </c:catAx>
      <c:valAx>
        <c:axId val="2094734552"/>
        <c:scaling>
          <c:orientation val="minMax"/>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1" i="0" u="none" strike="noStrike">
                <a:solidFill>
                  <a:srgbClr val="6B2328"/>
                </a:solidFill>
                <a:latin typeface="+mn-lt"/>
              </a:defRPr>
            </a:pPr>
            <a:r>
              <a:rPr lang="en-US" sz="1400" b="1" i="0" u="none" strike="noStrike">
                <a:solidFill>
                  <a:srgbClr val="6B2328"/>
                </a:solidFill>
                <a:latin typeface="+mn-lt"/>
              </a:rPr>
              <a:t>Revenue share by user type</a:t>
            </a:r>
          </a:p>
        </c:rich>
      </c:tx>
      <c:overlay val="0"/>
    </c:title>
    <c:autoTitleDeleted val="0"/>
    <c:plotArea>
      <c:layout/>
      <c:doughnutChart>
        <c:varyColors val="1"/>
        <c:ser>
          <c:idx val="0"/>
          <c:order val="0"/>
          <c:tx>
            <c:strRef>
              <c:f>Sheet1!$B$1</c:f>
              <c:strCache>
                <c:ptCount val="1"/>
                <c:pt idx="0">
                  <c:v>Revenue share</c:v>
                </c:pt>
              </c:strCache>
            </c:strRef>
          </c:tx>
          <c:spPr>
            <a:solidFill>
              <a:schemeClr val="accent1"/>
            </a:solidFill>
            <a:ln w="9525" cap="flat">
              <a:solidFill>
                <a:srgbClr val="F9F9F9"/>
              </a:solidFill>
              <a:prstDash val="solid"/>
              <a:round/>
            </a:ln>
            <a:effectLst/>
          </c:spPr>
          <c:dPt>
            <c:idx val="0"/>
            <c:bubble3D val="0"/>
            <c:spPr>
              <a:solidFill>
                <a:srgbClr val="A1343C"/>
              </a:solidFill>
              <a:ln w="25400" cap="flat">
                <a:solidFill>
                  <a:srgbClr val="FFFFFF"/>
                </a:solidFill>
                <a:prstDash val="solid"/>
                <a:round/>
              </a:ln>
              <a:effectLst/>
            </c:spPr>
            <c:extLst>
              <c:ext xmlns:c16="http://schemas.microsoft.com/office/drawing/2014/chart" uri="{C3380CC4-5D6E-409C-BE32-E72D297353CC}">
                <c16:uniqueId val="{00000001-4E7A-48F1-8BF5-F7C81F8B6BCB}"/>
              </c:ext>
            </c:extLst>
          </c:dPt>
          <c:dPt>
            <c:idx val="1"/>
            <c:bubble3D val="0"/>
            <c:spPr>
              <a:solidFill>
                <a:srgbClr val="00A699"/>
              </a:solidFill>
              <a:ln w="25400" cap="flat">
                <a:solidFill>
                  <a:srgbClr val="FFFFFF"/>
                </a:solidFill>
                <a:prstDash val="solid"/>
                <a:round/>
              </a:ln>
              <a:effectLst/>
            </c:spPr>
            <c:extLst>
              <c:ext xmlns:c16="http://schemas.microsoft.com/office/drawing/2014/chart" uri="{C3380CC4-5D6E-409C-BE32-E72D297353CC}">
                <c16:uniqueId val="{00000003-4E7A-48F1-8BF5-F7C81F8B6BCB}"/>
              </c:ext>
            </c:extLst>
          </c:dPt>
          <c:dLbls>
            <c:dLbl>
              <c:idx val="0"/>
              <c:layout>
                <c:manualLayout>
                  <c:x val="0.20202020202020202"/>
                  <c:y val="2.9914529914529836E-2"/>
                </c:manualLayout>
              </c:layout>
              <c:numFmt formatCode="0.00%" sourceLinked="0"/>
              <c:spPr/>
              <c:txPr>
                <a:bodyPr/>
                <a:lstStyle/>
                <a:p>
                  <a:pPr>
                    <a:defRPr sz="1400" b="1" i="0" u="none" strike="noStrike">
                      <a:solidFill>
                        <a:schemeClr val="tx1"/>
                      </a:solidFill>
                      <a:latin typeface="+mn-lt"/>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4E7A-48F1-8BF5-F7C81F8B6BCB}"/>
                </c:ext>
              </c:extLst>
            </c:dLbl>
            <c:dLbl>
              <c:idx val="1"/>
              <c:layout>
                <c:manualLayout>
                  <c:x val="-0.1325757575757576"/>
                  <c:y val="-8.1196581196581213E-2"/>
                </c:manualLayout>
              </c:layout>
              <c:numFmt formatCode="0.00%" sourceLinked="0"/>
              <c:spPr/>
              <c:txPr>
                <a:bodyPr/>
                <a:lstStyle/>
                <a:p>
                  <a:pPr>
                    <a:defRPr sz="1400" b="1" i="0" u="none" strike="noStrike">
                      <a:solidFill>
                        <a:schemeClr val="tx1"/>
                      </a:solidFill>
                      <a:latin typeface="+mn-lt"/>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4E7A-48F1-8BF5-F7C81F8B6BCB}"/>
                </c:ext>
              </c:extLst>
            </c:dLbl>
            <c:numFmt formatCode="0.00%" sourceLinked="0"/>
            <c:spPr>
              <a:noFill/>
              <a:ln>
                <a:noFill/>
              </a:ln>
              <a:effectLst/>
            </c:spPr>
            <c:txPr>
              <a:bodyPr/>
              <a:lstStyle/>
              <a:p>
                <a:pPr>
                  <a:defRPr sz="1800" b="1"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Returning users</c:v>
                </c:pt>
                <c:pt idx="1">
                  <c:v>New users</c:v>
                </c:pt>
              </c:strCache>
            </c:strRef>
          </c:cat>
          <c:val>
            <c:numRef>
              <c:f>Sheet1!$B$2:$B$3</c:f>
              <c:numCache>
                <c:formatCode>General</c:formatCode>
                <c:ptCount val="2"/>
                <c:pt idx="0">
                  <c:v>84.95</c:v>
                </c:pt>
                <c:pt idx="1">
                  <c:v>15.05</c:v>
                </c:pt>
              </c:numCache>
            </c:numRef>
          </c:val>
          <c:extLst>
            <c:ext xmlns:c16="http://schemas.microsoft.com/office/drawing/2014/chart" uri="{C3380CC4-5D6E-409C-BE32-E72D297353CC}">
              <c16:uniqueId val="{00000004-4E7A-48F1-8BF5-F7C81F8B6BCB}"/>
            </c:ext>
          </c:extLst>
        </c:ser>
        <c:dLbls>
          <c:showLegendKey val="0"/>
          <c:showVal val="0"/>
          <c:showCatName val="0"/>
          <c:showSerName val="0"/>
          <c:showPercent val="0"/>
          <c:showBubbleSize val="0"/>
          <c:showLeaderLines val="0"/>
        </c:dLbls>
        <c:firstSliceAng val="0"/>
        <c:holeSize val="55"/>
      </c:doughnutChart>
      <c:spPr>
        <a:noFill/>
        <a:ln>
          <a:noFill/>
        </a:ln>
        <a:effectLst/>
      </c:spPr>
    </c:plotArea>
    <c:legend>
      <c:legendPos val="b"/>
      <c:overlay val="0"/>
      <c:txPr>
        <a:bodyPr/>
        <a:lstStyle/>
        <a:p>
          <a:pPr>
            <a:defRPr sz="1200">
              <a:solidFill>
                <a:srgbClr val="484848"/>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894603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report summarizes the four-page Power BI dashboard for Airbnb's advertisement strategy, covering 5 May 2014 to 23 April 2015.</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Headline KPIs: 7,756 total visits, 630 unique visitors, 984 total bookings, $245.11K revenue and a 31.58% conversion rate (bookings divided by searches: 984 / 3,116). Average spend per booking is $249.10.</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dashboard pages: EDA (KPIs, devices, apps, session trend), User Demographics (age, gender, spend, streets), Temporal &amp; Booking Trends (monthly and weekday patterns, conversion drivers), and Performance &amp; Revenue Insights (funnel, device performance, revenue by user type).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EDA page. iPhone is the biggest device with roughly 3.4K users, then Desktop at about 2.0K. By app, iOS leads with 2.21K users, then Web 1.64K and Chrome 1.02K. Safari and Firefox segments are unlabelled in the dashboard so they are not shown.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User Demographics and EDA pages. The gender pie shows 56.1% female and about 44% male. The age histogram peaks around 30, with the core group between 25 and 35. Note: the dashboard's own caption says male users dominate, but the gender pie shows women are the larger share of users; men stand out on spend (next slide).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Age vs Revenue scatter. Highest spenders are 22-35 and spending falls significantly after 40. The largest booking totals (up to roughly $26K for a single age) are male users, while female users cluster at lower totals. Average spent is $249.10.</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Sessions by day of week (Temporal &amp; Booking Trends page): Monday is highest, then Wednesday and Tuesday; Saturday and Sunday are lowest. Bars are indexed to Monday = 100 from the chart's relative bar lengths, so treat values as approximate. The sessions trend from the EDA page shows growth from July 2014, peaks near 60 daily sessions around September and December/January, and a decline into March-April 2015.</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Clicks, Bookings and Conversion Rate month-wise chart. Clicks peak at roughly 720 around August 2014. Between October and December 2014 clicks drop to about the same level as bookings, so the conversion rate reaches roughly 100%. In 2015 both fall and conversion settles around 0.2. Values are read from the chart and approximate.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 Conversion Rates funnel: 3,116 searches, 1,279 messages (41% of searches) and 984 booking requests (77% of messages). Overall conversion is 984 / 3,116 = 31.58%. The biggest leak is between search and message.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decomposition tree: overall conversion 0.32. By device: Desktop 0.47, iPad 0.46, Android Phone 0.40, iPhone 0.21, Other 0.16, Android Tablet 0.13 (NULL devices 0.31 not shown). Drilling into Desktop by browser/app: Firefox 0.70, Chrome 0.53, Android 0.50, Safari 0.49, IE 0.42, iOS 0.38, Web 0.13, Moweb 0.12. Web and Moweb are the weak spots.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'Potential Customers Lost Before Booking (by Device)': the retargeting pool is about 885 for iPhone and 465 for Desktop, then Other (~220), Android Phone (~130), iPad (~120) and Android Tablet (~100). From Device Performance: iPhone has the highest search volume (about 1.1K) but the conversion rate is only 21%.</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Revenue share donut: returning users 84.95%, new users 15.05%. Total revenue $245.11K over 984 bookings, which matches the $249.10 average spent per booking.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Recommendations extend the dashboard's own suggestions with the supporting numbers: age-targeted geo video ads, scaling iPhone/Desktop spend while fixing the iPhone booking flow, a Monday/Wednesday weekday focus, and safety/trust features (women are 56% of users and 59% of searches never reach a message).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Original Power BI dashboard page: EDA.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Original Power BI dashboard page: User Demographics.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Original Power BI dashboard page: Temporal &amp; Booking Trends.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Original Power BI dashboard page: Performance &amp; Revenue Insights.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bg1"/>
        </a:solidFill>
        <a:effectLst/>
      </p:bgPr>
    </p:bg>
    <p:spTree>
      <p:nvGrpSpPr>
        <p:cNvPr id="1" name=""/>
        <p:cNvGrpSpPr/>
        <p:nvPr/>
      </p:nvGrpSpPr>
      <p:grpSpPr>
        <a:xfrm>
          <a:off x="0" y="0"/>
          <a:ext cx="0" cy="0"/>
          <a:chOff x="0" y="0"/>
          <a:chExt cx="0" cy="0"/>
        </a:xfrm>
      </p:grpSpPr>
      <p:sp>
        <p:nvSpPr>
          <p:cNvPr id="2" name="Dark background"/>
          <p:cNvSpPr/>
          <p:nvPr/>
        </p:nvSpPr>
        <p:spPr>
          <a:xfrm>
            <a:off x="0" y="0"/>
            <a:ext cx="9144000" cy="5143500"/>
          </a:xfrm>
          <a:prstGeom prst="rect">
            <a:avLst/>
          </a:prstGeom>
          <a:solidFill>
            <a:schemeClr val="tx2"/>
          </a:solidFill>
          <a:ln/>
        </p:spPr>
      </p:sp>
      <p:sp>
        <p:nvSpPr>
          <p:cNvPr id="3" name="Text 1"/>
          <p:cNvSpPr>
            <a:spLocks noGrp="1"/>
          </p:cNvSpPr>
          <p:nvPr>
            <p:ph type="title" idx="101" hasCustomPrompt="1"/>
          </p:nvPr>
        </p:nvSpPr>
        <p:spPr>
          <a:xfrm>
            <a:off x="640080" y="1463040"/>
            <a:ext cx="5486400" cy="146304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
        <p:nvSpPr>
          <p:cNvPr id="4" name="Text 1"/>
          <p:cNvSpPr>
            <a:spLocks noGrp="1"/>
          </p:cNvSpPr>
          <p:nvPr>
            <p:ph type="body" idx="102" hasCustomPrompt="1"/>
          </p:nvPr>
        </p:nvSpPr>
        <p:spPr>
          <a:xfrm>
            <a:off x="640080" y="3063240"/>
            <a:ext cx="5486400" cy="457200"/>
          </a:xfrm>
          <a:prstGeom prst="rect">
            <a:avLst/>
          </a:prstGeom>
          <a:noFill/>
          <a:ln/>
        </p:spPr>
        <p:txBody>
          <a:bodyPr wrap="square" rtlCol="0"/>
          <a:lstStyle>
            <a:lvl1pPr marL="0" indent="0">
              <a:buNone/>
              <a:defRPr lang="en-US" sz="2000" dirty="0">
                <a:solidFill>
                  <a:schemeClr val="accent6"/>
                </a:solidFill>
              </a:defRPr>
            </a:lvl1pPr>
          </a:lstStyle>
          <a:p>
            <a:pPr marL="0" indent="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_ONLY">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457200" y="4754880"/>
            <a:ext cx="4572000" cy="228600"/>
          </a:xfrm>
          <a:prstGeom prst="rect">
            <a:avLst/>
          </a:prstGeom>
          <a:noFill/>
          <a:ln/>
        </p:spPr>
        <p:txBody>
          <a:bodyPr wrap="square" lIns="0" tIns="0" rIns="0" bIns="0" rtlCol="0" anchor="ctr"/>
          <a:lstStyle/>
          <a:p>
            <a:pPr marL="0" indent="0">
              <a:buNone/>
            </a:pPr>
            <a:r>
              <a:rPr lang="en-US" sz="1000" dirty="0">
                <a:solidFill>
                  <a:schemeClr val="accent5"/>
                </a:solidFill>
              </a:rPr>
              <a:t>Airbnb | Advertisement Strategy</a:t>
            </a:r>
            <a:endParaRPr lang="en-US" sz="1000" dirty="0"/>
          </a:p>
        </p:txBody>
      </p:sp>
      <p:sp>
        <p:nvSpPr>
          <p:cNvPr id="3" name="Text 1"/>
          <p:cNvSpPr>
            <a:spLocks noGrp="1"/>
          </p:cNvSpPr>
          <p:nvPr>
            <p:ph type="title" idx="101" hasCustomPrompt="1"/>
          </p:nvPr>
        </p:nvSpPr>
        <p:spPr>
          <a:xfrm>
            <a:off x="457200" y="274320"/>
            <a:ext cx="8229600" cy="640080"/>
          </a:xfrm>
          <a:prstGeom prst="rect">
            <a:avLst/>
          </a:prstGeom>
          <a:noFill/>
          <a:ln/>
        </p:spPr>
        <p:txBody>
          <a:bodyPr wrap="square" rtlCol="0"/>
          <a:lstStyle>
            <a:lvl1pPr marL="0" indent="0" algn="l">
              <a:buNone/>
              <a:defRPr lang="en-US" sz="3400" b="1" dirty="0">
                <a:solidFill>
                  <a:schemeClr val="tx2"/>
                </a:solidFill>
              </a:defRPr>
            </a:lvl1pPr>
          </a:lstStyle>
          <a:p>
            <a:pPr marL="0" indent="0" algn="l">
              <a:buNone/>
            </a:pPr>
            <a:endParaRPr lang="en-US" sz="3400" dirty="0"/>
          </a:p>
        </p:txBody>
      </p:sp>
      <p:sp>
        <p:nvSpPr>
          <p:cNvPr id="4" name="Text 1"/>
          <p:cNvSpPr>
            <a:spLocks noGrp="1"/>
          </p:cNvSpPr>
          <p:nvPr>
            <p:ph type="body" idx="102" hasCustomPrompt="1"/>
          </p:nvPr>
        </p:nvSpPr>
        <p:spPr>
          <a:xfrm>
            <a:off x="457200" y="960120"/>
            <a:ext cx="8229600" cy="457200"/>
          </a:xfrm>
          <a:prstGeom prst="rect">
            <a:avLst/>
          </a:prstGeom>
          <a:noFill/>
          <a:ln/>
        </p:spPr>
        <p:txBody>
          <a:bodyPr wrap="square" rtlCol="0"/>
          <a:lstStyle>
            <a:lvl1pPr marL="0" indent="0">
              <a:buNone/>
              <a:defRPr lang="en-US" sz="1600" dirty="0">
                <a:solidFill>
                  <a:schemeClr val="tx1"/>
                </a:solidFill>
              </a:defRPr>
            </a:lvl1pPr>
          </a:lstStyle>
          <a:p>
            <a:pPr marL="0" indent="0">
              <a:buNone/>
            </a:pPr>
            <a:endParaRPr lang="en-US" sz="16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chart" Target="../charts/chart6.xml"/></Relationships>
</file>

<file path=ppt/slides/_rels/slide11.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640080" y="1463040"/>
            <a:ext cx="5486400" cy="1463040"/>
          </a:xfrm>
          <a:prstGeom prst="rect">
            <a:avLst/>
          </a:prstGeom>
          <a:noFill/>
          <a:ln/>
        </p:spPr>
        <p:txBody>
          <a:bodyPr wrap="square" lIns="0" tIns="0" rIns="0" bIns="0" rtlCol="0" anchor="t"/>
          <a:lstStyle/>
          <a:p>
            <a:pPr marL="0" indent="0" algn="l">
              <a:buNone/>
            </a:pPr>
            <a:r>
              <a:rPr lang="en-US" sz="4000" b="1" dirty="0">
                <a:solidFill>
                  <a:schemeClr val="bg1"/>
                </a:solidFill>
              </a:rPr>
              <a:t>Airbnb Advertisement Strategy</a:t>
            </a:r>
            <a:endParaRPr lang="en-US" sz="4000" dirty="0"/>
          </a:p>
        </p:txBody>
      </p:sp>
      <p:sp>
        <p:nvSpPr>
          <p:cNvPr id="3" name="Text 1"/>
          <p:cNvSpPr>
            <a:spLocks noGrp="1"/>
          </p:cNvSpPr>
          <p:nvPr>
            <p:ph type="body" idx="102" hasCustomPrompt="1"/>
          </p:nvPr>
        </p:nvSpPr>
        <p:spPr>
          <a:xfrm>
            <a:off x="640080" y="3063240"/>
            <a:ext cx="5486400" cy="457200"/>
          </a:xfrm>
          <a:prstGeom prst="rect">
            <a:avLst/>
          </a:prstGeom>
          <a:noFill/>
          <a:ln/>
        </p:spPr>
        <p:txBody>
          <a:bodyPr wrap="square" lIns="0" tIns="0" rIns="0" bIns="0" rtlCol="0" anchor="t"/>
          <a:lstStyle/>
          <a:p>
            <a:pPr marL="0" indent="0">
              <a:buNone/>
            </a:pPr>
            <a:r>
              <a:rPr lang="en-US" sz="2000" dirty="0">
                <a:solidFill>
                  <a:schemeClr val="accent6"/>
                </a:solidFill>
              </a:rPr>
              <a:t>Power BI dashboard insights report</a:t>
            </a:r>
            <a:endParaRPr lang="en-US" sz="2000" dirty="0"/>
          </a:p>
        </p:txBody>
      </p:sp>
      <p:sp>
        <p:nvSpPr>
          <p:cNvPr id="4" name="Group label"/>
          <p:cNvSpPr txBox="1"/>
          <p:nvPr/>
        </p:nvSpPr>
        <p:spPr>
          <a:xfrm>
            <a:off x="640080" y="4206240"/>
            <a:ext cx="5303520" cy="274320"/>
          </a:xfrm>
          <a:prstGeom prst="rect">
            <a:avLst/>
          </a:prstGeom>
          <a:noFill/>
          <a:ln/>
        </p:spPr>
        <p:txBody>
          <a:bodyPr wrap="square" lIns="0" tIns="0" rIns="0" bIns="0" rtlCol="0" anchor="t"/>
          <a:lstStyle/>
          <a:p>
            <a:pPr marL="0" indent="0">
              <a:buNone/>
            </a:pPr>
            <a:r>
              <a:rPr lang="en-US" sz="1400" dirty="0">
                <a:solidFill>
                  <a:schemeClr val="bg1"/>
                </a:solidFill>
              </a:rPr>
              <a:t>Data period: 5 May 2014 – 23 Apr 2015</a:t>
            </a:r>
            <a:endParaRPr lang="en-US" sz="1400" dirty="0"/>
          </a:p>
        </p:txBody>
      </p:sp>
      <p:sp>
        <p:nvSpPr>
          <p:cNvPr id="5" name="Hero circle"/>
          <p:cNvSpPr/>
          <p:nvPr/>
        </p:nvSpPr>
        <p:spPr>
          <a:xfrm>
            <a:off x="6309360" y="822960"/>
            <a:ext cx="2651760" cy="2651760"/>
          </a:xfrm>
          <a:prstGeom prst="ellipse">
            <a:avLst/>
          </a:prstGeom>
          <a:solidFill>
            <a:schemeClr val="accent2"/>
          </a:solidFill>
          <a:ln/>
        </p:spPr>
      </p:sp>
      <p:sp>
        <p:nvSpPr>
          <p:cNvPr id="6" name="Hero circle small"/>
          <p:cNvSpPr/>
          <p:nvPr/>
        </p:nvSpPr>
        <p:spPr>
          <a:xfrm>
            <a:off x="5760720" y="3200400"/>
            <a:ext cx="1005840" cy="1005840"/>
          </a:xfrm>
          <a:prstGeom prst="ellipse">
            <a:avLst/>
          </a:prstGeom>
          <a:solidFill>
            <a:schemeClr val="accent1"/>
          </a:solidFill>
          <a:ln/>
        </p:spPr>
      </p:sp>
      <p:sp>
        <p:nvSpPr>
          <p:cNvPr id="7" name="Hero circle tiny"/>
          <p:cNvSpPr/>
          <p:nvPr/>
        </p:nvSpPr>
        <p:spPr>
          <a:xfrm>
            <a:off x="8229600" y="3566160"/>
            <a:ext cx="640080" cy="640080"/>
          </a:xfrm>
          <a:prstGeom prst="ellipse">
            <a:avLst/>
          </a:prstGeom>
          <a:solidFill>
            <a:schemeClr val="accent6"/>
          </a:solidFill>
          <a:ln/>
        </p:spPr>
      </p:sp>
      <p:pic>
        <p:nvPicPr>
          <p:cNvPr id="8" name="Hero icon" descr="Home icon"/>
          <p:cNvPicPr>
            <a:picLocks noChangeAspect="1"/>
          </p:cNvPicPr>
          <p:nvPr/>
        </p:nvPicPr>
        <p:blipFill>
          <a:blip r:embed="rId3"/>
          <a:stretch>
            <a:fillRect/>
          </a:stretch>
        </p:blipFill>
        <p:spPr>
          <a:xfrm>
            <a:off x="6903720" y="1417320"/>
            <a:ext cx="1463040" cy="14630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3400" b="1" dirty="0">
                <a:solidFill>
                  <a:schemeClr val="tx2"/>
                </a:solidFill>
              </a:rPr>
              <a:t>Executive summary</a:t>
            </a:r>
            <a:endParaRPr lang="en-US" sz="3400" dirty="0"/>
          </a:p>
        </p:txBody>
      </p:sp>
      <p:sp>
        <p:nvSpPr>
          <p:cNvPr id="3" name="Text 1"/>
          <p:cNvSpPr>
            <a:spLocks noGrp="1"/>
          </p:cNvSpPr>
          <p:nvPr>
            <p:ph type="body" idx="102" hasCustomPrompt="1"/>
          </p:nvPr>
        </p:nvSpPr>
        <p:spPr>
          <a:xfrm>
            <a:off x="457200" y="960120"/>
            <a:ext cx="8229600" cy="457200"/>
          </a:xfrm>
          <a:prstGeom prst="rect">
            <a:avLst/>
          </a:prstGeom>
          <a:noFill/>
          <a:ln/>
        </p:spPr>
        <p:txBody>
          <a:bodyPr wrap="square" lIns="0" tIns="0" rIns="0" bIns="0" rtlCol="0" anchor="t"/>
          <a:lstStyle/>
          <a:p>
            <a:pPr marL="0" indent="0">
              <a:buNone/>
            </a:pPr>
            <a:r>
              <a:rPr lang="en-US" sz="1600" dirty="0">
                <a:solidFill>
                  <a:schemeClr val="tx1"/>
                </a:solidFill>
              </a:rPr>
              <a:t>Strong demand, but conversion leaks on iPhone and before the first message.</a:t>
            </a:r>
            <a:endParaRPr lang="en-US" sz="1600" dirty="0"/>
          </a:p>
        </p:txBody>
      </p:sp>
      <p:sp>
        <p:nvSpPr>
          <p:cNvPr id="4" name="KPI card 1"/>
          <p:cNvSpPr/>
          <p:nvPr/>
        </p:nvSpPr>
        <p:spPr>
          <a:xfrm>
            <a:off x="457200" y="1600200"/>
            <a:ext cx="1554480" cy="1143000"/>
          </a:xfrm>
          <a:prstGeom prst="roundRect">
            <a:avLst>
              <a:gd name="adj" fmla="val 8000"/>
            </a:avLst>
          </a:prstGeom>
          <a:solidFill>
            <a:schemeClr val="bg2"/>
          </a:solidFill>
          <a:ln/>
        </p:spPr>
      </p:sp>
      <p:sp>
        <p:nvSpPr>
          <p:cNvPr id="5" name="KPI value 1"/>
          <p:cNvSpPr txBox="1"/>
          <p:nvPr/>
        </p:nvSpPr>
        <p:spPr>
          <a:xfrm>
            <a:off x="548640" y="1737360"/>
            <a:ext cx="1371600" cy="457200"/>
          </a:xfrm>
          <a:prstGeom prst="rect">
            <a:avLst/>
          </a:prstGeom>
          <a:noFill/>
          <a:ln/>
        </p:spPr>
        <p:txBody>
          <a:bodyPr wrap="square" lIns="0" tIns="0" rIns="0" bIns="0" rtlCol="0" anchor="ctr"/>
          <a:lstStyle/>
          <a:p>
            <a:pPr marL="0" indent="0" algn="ctr">
              <a:buNone/>
            </a:pPr>
            <a:r>
              <a:rPr lang="en-US" sz="2200" b="1" dirty="0">
                <a:solidFill>
                  <a:schemeClr val="accent1"/>
                </a:solidFill>
                <a:latin typeface="Cambria" pitchFamily="34" charset="0"/>
                <a:ea typeface="Cambria" pitchFamily="34" charset="-122"/>
                <a:cs typeface="Cambria" pitchFamily="34" charset="-120"/>
              </a:rPr>
              <a:t>7,756</a:t>
            </a:r>
            <a:endParaRPr lang="en-US" sz="2200" dirty="0"/>
          </a:p>
        </p:txBody>
      </p:sp>
      <p:sp>
        <p:nvSpPr>
          <p:cNvPr id="6" name="KPI label 1"/>
          <p:cNvSpPr txBox="1"/>
          <p:nvPr/>
        </p:nvSpPr>
        <p:spPr>
          <a:xfrm>
            <a:off x="548640" y="2240280"/>
            <a:ext cx="1371600" cy="320040"/>
          </a:xfrm>
          <a:prstGeom prst="rect">
            <a:avLst/>
          </a:prstGeom>
          <a:noFill/>
          <a:ln/>
        </p:spPr>
        <p:txBody>
          <a:bodyPr wrap="square" lIns="0" tIns="0" rIns="0" bIns="0" rtlCol="0" anchor="t"/>
          <a:lstStyle/>
          <a:p>
            <a:pPr marL="0" indent="0" algn="ctr">
              <a:buNone/>
            </a:pPr>
            <a:r>
              <a:rPr lang="en-US" sz="1400" dirty="0">
                <a:solidFill>
                  <a:schemeClr val="tx1"/>
                </a:solidFill>
              </a:rPr>
              <a:t>Total visits</a:t>
            </a:r>
            <a:endParaRPr lang="en-US" sz="1400" dirty="0"/>
          </a:p>
        </p:txBody>
      </p:sp>
      <p:sp>
        <p:nvSpPr>
          <p:cNvPr id="7" name="KPI card 2"/>
          <p:cNvSpPr/>
          <p:nvPr/>
        </p:nvSpPr>
        <p:spPr>
          <a:xfrm>
            <a:off x="2125980" y="1600200"/>
            <a:ext cx="1554480" cy="1143000"/>
          </a:xfrm>
          <a:prstGeom prst="roundRect">
            <a:avLst>
              <a:gd name="adj" fmla="val 8000"/>
            </a:avLst>
          </a:prstGeom>
          <a:solidFill>
            <a:schemeClr val="bg2"/>
          </a:solidFill>
          <a:ln/>
        </p:spPr>
      </p:sp>
      <p:sp>
        <p:nvSpPr>
          <p:cNvPr id="8" name="KPI value 2"/>
          <p:cNvSpPr txBox="1"/>
          <p:nvPr/>
        </p:nvSpPr>
        <p:spPr>
          <a:xfrm>
            <a:off x="2217420" y="1737360"/>
            <a:ext cx="1371600" cy="457200"/>
          </a:xfrm>
          <a:prstGeom prst="rect">
            <a:avLst/>
          </a:prstGeom>
          <a:noFill/>
          <a:ln/>
        </p:spPr>
        <p:txBody>
          <a:bodyPr wrap="square" lIns="0" tIns="0" rIns="0" bIns="0" rtlCol="0" anchor="ctr"/>
          <a:lstStyle/>
          <a:p>
            <a:pPr marL="0" indent="0" algn="ctr">
              <a:buNone/>
            </a:pPr>
            <a:r>
              <a:rPr lang="en-US" sz="2200" b="1" dirty="0">
                <a:solidFill>
                  <a:schemeClr val="accent1"/>
                </a:solidFill>
                <a:latin typeface="Cambria" pitchFamily="34" charset="0"/>
                <a:ea typeface="Cambria" pitchFamily="34" charset="-122"/>
                <a:cs typeface="Cambria" pitchFamily="34" charset="-120"/>
              </a:rPr>
              <a:t>630</a:t>
            </a:r>
            <a:endParaRPr lang="en-US" sz="2200" dirty="0"/>
          </a:p>
        </p:txBody>
      </p:sp>
      <p:sp>
        <p:nvSpPr>
          <p:cNvPr id="9" name="KPI label 2"/>
          <p:cNvSpPr txBox="1"/>
          <p:nvPr/>
        </p:nvSpPr>
        <p:spPr>
          <a:xfrm>
            <a:off x="2217420" y="2240280"/>
            <a:ext cx="1371600" cy="320040"/>
          </a:xfrm>
          <a:prstGeom prst="rect">
            <a:avLst/>
          </a:prstGeom>
          <a:noFill/>
          <a:ln/>
        </p:spPr>
        <p:txBody>
          <a:bodyPr wrap="square" lIns="0" tIns="0" rIns="0" bIns="0" rtlCol="0" anchor="t"/>
          <a:lstStyle/>
          <a:p>
            <a:pPr marL="0" indent="0" algn="ctr">
              <a:buNone/>
            </a:pPr>
            <a:r>
              <a:rPr lang="en-US" sz="1400" dirty="0">
                <a:solidFill>
                  <a:schemeClr val="tx1"/>
                </a:solidFill>
              </a:rPr>
              <a:t>Unique visitors</a:t>
            </a:r>
            <a:endParaRPr lang="en-US" sz="1400" dirty="0"/>
          </a:p>
        </p:txBody>
      </p:sp>
      <p:sp>
        <p:nvSpPr>
          <p:cNvPr id="10" name="KPI card 3"/>
          <p:cNvSpPr/>
          <p:nvPr/>
        </p:nvSpPr>
        <p:spPr>
          <a:xfrm>
            <a:off x="3794760" y="1600200"/>
            <a:ext cx="1554480" cy="1143000"/>
          </a:xfrm>
          <a:prstGeom prst="roundRect">
            <a:avLst>
              <a:gd name="adj" fmla="val 8000"/>
            </a:avLst>
          </a:prstGeom>
          <a:solidFill>
            <a:schemeClr val="bg2"/>
          </a:solidFill>
          <a:ln/>
        </p:spPr>
      </p:sp>
      <p:sp>
        <p:nvSpPr>
          <p:cNvPr id="11" name="KPI value 3"/>
          <p:cNvSpPr txBox="1"/>
          <p:nvPr/>
        </p:nvSpPr>
        <p:spPr>
          <a:xfrm>
            <a:off x="3886200" y="1737360"/>
            <a:ext cx="1371600" cy="457200"/>
          </a:xfrm>
          <a:prstGeom prst="rect">
            <a:avLst/>
          </a:prstGeom>
          <a:noFill/>
          <a:ln/>
        </p:spPr>
        <p:txBody>
          <a:bodyPr wrap="square" lIns="0" tIns="0" rIns="0" bIns="0" rtlCol="0" anchor="ctr"/>
          <a:lstStyle/>
          <a:p>
            <a:pPr marL="0" indent="0" algn="ctr">
              <a:buNone/>
            </a:pPr>
            <a:r>
              <a:rPr lang="en-US" sz="2200" b="1" dirty="0">
                <a:solidFill>
                  <a:schemeClr val="accent1"/>
                </a:solidFill>
                <a:latin typeface="Cambria" pitchFamily="34" charset="0"/>
                <a:ea typeface="Cambria" pitchFamily="34" charset="-122"/>
                <a:cs typeface="Cambria" pitchFamily="34" charset="-120"/>
              </a:rPr>
              <a:t>984</a:t>
            </a:r>
            <a:endParaRPr lang="en-US" sz="2200" dirty="0"/>
          </a:p>
        </p:txBody>
      </p:sp>
      <p:sp>
        <p:nvSpPr>
          <p:cNvPr id="12" name="KPI label 3"/>
          <p:cNvSpPr txBox="1"/>
          <p:nvPr/>
        </p:nvSpPr>
        <p:spPr>
          <a:xfrm>
            <a:off x="3886200" y="2240280"/>
            <a:ext cx="1371600" cy="320040"/>
          </a:xfrm>
          <a:prstGeom prst="rect">
            <a:avLst/>
          </a:prstGeom>
          <a:noFill/>
          <a:ln/>
        </p:spPr>
        <p:txBody>
          <a:bodyPr wrap="square" lIns="0" tIns="0" rIns="0" bIns="0" rtlCol="0" anchor="t"/>
          <a:lstStyle/>
          <a:p>
            <a:pPr marL="0" indent="0" algn="ctr">
              <a:buNone/>
            </a:pPr>
            <a:r>
              <a:rPr lang="en-US" sz="1400" dirty="0">
                <a:solidFill>
                  <a:schemeClr val="tx1"/>
                </a:solidFill>
              </a:rPr>
              <a:t>Total bookings</a:t>
            </a:r>
            <a:endParaRPr lang="en-US" sz="1400" dirty="0"/>
          </a:p>
        </p:txBody>
      </p:sp>
      <p:sp>
        <p:nvSpPr>
          <p:cNvPr id="13" name="KPI card 4"/>
          <p:cNvSpPr/>
          <p:nvPr/>
        </p:nvSpPr>
        <p:spPr>
          <a:xfrm>
            <a:off x="5463540" y="1600200"/>
            <a:ext cx="1554480" cy="1143000"/>
          </a:xfrm>
          <a:prstGeom prst="roundRect">
            <a:avLst>
              <a:gd name="adj" fmla="val 8000"/>
            </a:avLst>
          </a:prstGeom>
          <a:solidFill>
            <a:schemeClr val="bg2"/>
          </a:solidFill>
          <a:ln/>
        </p:spPr>
      </p:sp>
      <p:sp>
        <p:nvSpPr>
          <p:cNvPr id="14" name="KPI value 4"/>
          <p:cNvSpPr txBox="1"/>
          <p:nvPr/>
        </p:nvSpPr>
        <p:spPr>
          <a:xfrm>
            <a:off x="5554980" y="1737360"/>
            <a:ext cx="1371600" cy="457200"/>
          </a:xfrm>
          <a:prstGeom prst="rect">
            <a:avLst/>
          </a:prstGeom>
          <a:noFill/>
          <a:ln/>
        </p:spPr>
        <p:txBody>
          <a:bodyPr wrap="square" lIns="0" tIns="0" rIns="0" bIns="0" rtlCol="0" anchor="ctr"/>
          <a:lstStyle/>
          <a:p>
            <a:pPr marL="0" indent="0" algn="ctr">
              <a:buNone/>
            </a:pPr>
            <a:r>
              <a:rPr lang="en-US" sz="2200" b="1" dirty="0">
                <a:solidFill>
                  <a:schemeClr val="accent1"/>
                </a:solidFill>
                <a:latin typeface="Cambria" pitchFamily="34" charset="0"/>
                <a:ea typeface="Cambria" pitchFamily="34" charset="-122"/>
                <a:cs typeface="Cambria" pitchFamily="34" charset="-120"/>
              </a:rPr>
              <a:t>$245.11K</a:t>
            </a:r>
            <a:endParaRPr lang="en-US" sz="2200" dirty="0"/>
          </a:p>
        </p:txBody>
      </p:sp>
      <p:sp>
        <p:nvSpPr>
          <p:cNvPr id="15" name="KPI label 4"/>
          <p:cNvSpPr txBox="1"/>
          <p:nvPr/>
        </p:nvSpPr>
        <p:spPr>
          <a:xfrm>
            <a:off x="5554980" y="2240280"/>
            <a:ext cx="1371600" cy="320040"/>
          </a:xfrm>
          <a:prstGeom prst="rect">
            <a:avLst/>
          </a:prstGeom>
          <a:noFill/>
          <a:ln/>
        </p:spPr>
        <p:txBody>
          <a:bodyPr wrap="square" lIns="0" tIns="0" rIns="0" bIns="0" rtlCol="0" anchor="t"/>
          <a:lstStyle/>
          <a:p>
            <a:pPr marL="0" indent="0" algn="ctr">
              <a:buNone/>
            </a:pPr>
            <a:r>
              <a:rPr lang="en-US" sz="1400" dirty="0">
                <a:solidFill>
                  <a:schemeClr val="tx1"/>
                </a:solidFill>
              </a:rPr>
              <a:t>Total revenue</a:t>
            </a:r>
            <a:endParaRPr lang="en-US" sz="1400" dirty="0"/>
          </a:p>
        </p:txBody>
      </p:sp>
      <p:sp>
        <p:nvSpPr>
          <p:cNvPr id="16" name="KPI card 5"/>
          <p:cNvSpPr/>
          <p:nvPr/>
        </p:nvSpPr>
        <p:spPr>
          <a:xfrm>
            <a:off x="7132320" y="1600200"/>
            <a:ext cx="1554480" cy="1143000"/>
          </a:xfrm>
          <a:prstGeom prst="roundRect">
            <a:avLst>
              <a:gd name="adj" fmla="val 8000"/>
            </a:avLst>
          </a:prstGeom>
          <a:solidFill>
            <a:schemeClr val="tx2"/>
          </a:solidFill>
          <a:ln/>
        </p:spPr>
      </p:sp>
      <p:sp>
        <p:nvSpPr>
          <p:cNvPr id="17" name="KPI value 5"/>
          <p:cNvSpPr txBox="1"/>
          <p:nvPr/>
        </p:nvSpPr>
        <p:spPr>
          <a:xfrm>
            <a:off x="7223760" y="1737360"/>
            <a:ext cx="1371600" cy="457200"/>
          </a:xfrm>
          <a:prstGeom prst="rect">
            <a:avLst/>
          </a:prstGeom>
          <a:noFill/>
          <a:ln/>
        </p:spPr>
        <p:txBody>
          <a:bodyPr wrap="square" lIns="0" tIns="0" rIns="0" bIns="0" rtlCol="0" anchor="ctr"/>
          <a:lstStyle/>
          <a:p>
            <a:pPr marL="0" indent="0" algn="ctr">
              <a:buNone/>
            </a:pPr>
            <a:r>
              <a:rPr lang="en-US" sz="2200" b="1" dirty="0">
                <a:solidFill>
                  <a:schemeClr val="bg1"/>
                </a:solidFill>
                <a:latin typeface="Cambria" pitchFamily="34" charset="0"/>
                <a:ea typeface="Cambria" pitchFamily="34" charset="-122"/>
                <a:cs typeface="Cambria" pitchFamily="34" charset="-120"/>
              </a:rPr>
              <a:t>31.58%</a:t>
            </a:r>
            <a:endParaRPr lang="en-US" sz="2200" dirty="0"/>
          </a:p>
        </p:txBody>
      </p:sp>
      <p:sp>
        <p:nvSpPr>
          <p:cNvPr id="18" name="KPI label 5"/>
          <p:cNvSpPr txBox="1"/>
          <p:nvPr/>
        </p:nvSpPr>
        <p:spPr>
          <a:xfrm>
            <a:off x="7223760" y="2240280"/>
            <a:ext cx="1371600" cy="320040"/>
          </a:xfrm>
          <a:prstGeom prst="rect">
            <a:avLst/>
          </a:prstGeom>
          <a:noFill/>
          <a:ln/>
        </p:spPr>
        <p:txBody>
          <a:bodyPr wrap="square" lIns="0" tIns="0" rIns="0" bIns="0" rtlCol="0" anchor="t"/>
          <a:lstStyle/>
          <a:p>
            <a:pPr marL="0" indent="0" algn="ctr">
              <a:buNone/>
            </a:pPr>
            <a:r>
              <a:rPr lang="en-US" sz="1400" dirty="0">
                <a:solidFill>
                  <a:schemeClr val="bg1"/>
                </a:solidFill>
              </a:rPr>
              <a:t>Conversion rate</a:t>
            </a:r>
            <a:endParaRPr lang="en-US" sz="1400" dirty="0"/>
          </a:p>
        </p:txBody>
      </p:sp>
      <p:sp>
        <p:nvSpPr>
          <p:cNvPr id="19" name="Summary card 1"/>
          <p:cNvSpPr/>
          <p:nvPr/>
        </p:nvSpPr>
        <p:spPr>
          <a:xfrm>
            <a:off x="457200" y="2971800"/>
            <a:ext cx="2679192" cy="1600200"/>
          </a:xfrm>
          <a:prstGeom prst="roundRect">
            <a:avLst>
              <a:gd name="adj" fmla="val 5714"/>
            </a:avLst>
          </a:prstGeom>
          <a:solidFill>
            <a:schemeClr val="bg2"/>
          </a:solidFill>
          <a:ln/>
        </p:spPr>
      </p:sp>
      <p:sp>
        <p:nvSpPr>
          <p:cNvPr id="20" name="Summary icon 1 circle"/>
          <p:cNvSpPr/>
          <p:nvPr/>
        </p:nvSpPr>
        <p:spPr>
          <a:xfrm>
            <a:off x="640080" y="3108960"/>
            <a:ext cx="457200" cy="457200"/>
          </a:xfrm>
          <a:prstGeom prst="ellipse">
            <a:avLst/>
          </a:prstGeom>
          <a:solidFill>
            <a:schemeClr val="accent1"/>
          </a:solidFill>
          <a:ln/>
        </p:spPr>
      </p:sp>
      <p:pic>
        <p:nvPicPr>
          <p:cNvPr id="21" name="Summary icon 1" descr="Summary icon 1"/>
          <p:cNvPicPr>
            <a:picLocks noChangeAspect="1"/>
          </p:cNvPicPr>
          <p:nvPr/>
        </p:nvPicPr>
        <p:blipFill>
          <a:blip r:embed="rId3"/>
          <a:stretch>
            <a:fillRect/>
          </a:stretch>
        </p:blipFill>
        <p:spPr>
          <a:xfrm>
            <a:off x="754380" y="3223260"/>
            <a:ext cx="228600" cy="228600"/>
          </a:xfrm>
          <a:prstGeom prst="rect">
            <a:avLst/>
          </a:prstGeom>
        </p:spPr>
      </p:pic>
      <p:sp>
        <p:nvSpPr>
          <p:cNvPr id="22" name="Summary title 1"/>
          <p:cNvSpPr txBox="1"/>
          <p:nvPr/>
        </p:nvSpPr>
        <p:spPr>
          <a:xfrm>
            <a:off x="1234440" y="3108960"/>
            <a:ext cx="1737360" cy="457200"/>
          </a:xfrm>
          <a:prstGeom prst="rect">
            <a:avLst/>
          </a:prstGeom>
          <a:noFill/>
          <a:ln/>
        </p:spPr>
        <p:txBody>
          <a:bodyPr wrap="square" lIns="0" tIns="0" rIns="0" bIns="0" rtlCol="0" anchor="ctr"/>
          <a:lstStyle/>
          <a:p>
            <a:pPr marL="0" indent="0">
              <a:buNone/>
            </a:pPr>
            <a:r>
              <a:rPr lang="en-US" sz="1600" b="1" dirty="0">
                <a:solidFill>
                  <a:schemeClr val="tx2"/>
                </a:solidFill>
              </a:rPr>
              <a:t>Audience</a:t>
            </a:r>
            <a:endParaRPr lang="en-US" sz="1600" dirty="0"/>
          </a:p>
        </p:txBody>
      </p:sp>
      <p:sp>
        <p:nvSpPr>
          <p:cNvPr id="23" name="Summary text 1"/>
          <p:cNvSpPr txBox="1"/>
          <p:nvPr/>
        </p:nvSpPr>
        <p:spPr>
          <a:xfrm>
            <a:off x="640080" y="3657600"/>
            <a:ext cx="2331720" cy="868680"/>
          </a:xfrm>
          <a:prstGeom prst="rect">
            <a:avLst/>
          </a:prstGeom>
          <a:noFill/>
          <a:ln/>
        </p:spPr>
        <p:txBody>
          <a:bodyPr wrap="square" lIns="0" tIns="0" rIns="0" bIns="0" rtlCol="0" anchor="t"/>
          <a:lstStyle/>
          <a:p>
            <a:pPr marL="0" indent="0">
              <a:buNone/>
            </a:pPr>
            <a:r>
              <a:rPr lang="en-US" sz="1400" dirty="0">
                <a:solidFill>
                  <a:schemeClr val="tx1"/>
                </a:solidFill>
              </a:rPr>
              <a:t>25–35 is the core age; ages 22–35 spend most; 56% of users are women.</a:t>
            </a:r>
            <a:endParaRPr lang="en-US" sz="1400" dirty="0"/>
          </a:p>
        </p:txBody>
      </p:sp>
      <p:sp>
        <p:nvSpPr>
          <p:cNvPr id="24" name="Summary card 2"/>
          <p:cNvSpPr/>
          <p:nvPr/>
        </p:nvSpPr>
        <p:spPr>
          <a:xfrm>
            <a:off x="3232404" y="2971800"/>
            <a:ext cx="2679192" cy="1600200"/>
          </a:xfrm>
          <a:prstGeom prst="roundRect">
            <a:avLst>
              <a:gd name="adj" fmla="val 5714"/>
            </a:avLst>
          </a:prstGeom>
          <a:solidFill>
            <a:schemeClr val="bg2"/>
          </a:solidFill>
          <a:ln/>
        </p:spPr>
      </p:sp>
      <p:sp>
        <p:nvSpPr>
          <p:cNvPr id="25" name="Summary icon 2 circle"/>
          <p:cNvSpPr/>
          <p:nvPr/>
        </p:nvSpPr>
        <p:spPr>
          <a:xfrm>
            <a:off x="3415284" y="3108960"/>
            <a:ext cx="457200" cy="457200"/>
          </a:xfrm>
          <a:prstGeom prst="ellipse">
            <a:avLst/>
          </a:prstGeom>
          <a:solidFill>
            <a:schemeClr val="accent1"/>
          </a:solidFill>
          <a:ln/>
        </p:spPr>
      </p:sp>
      <p:pic>
        <p:nvPicPr>
          <p:cNvPr id="26" name="Summary icon 2" descr="Summary icon 2"/>
          <p:cNvPicPr>
            <a:picLocks noChangeAspect="1"/>
          </p:cNvPicPr>
          <p:nvPr/>
        </p:nvPicPr>
        <p:blipFill>
          <a:blip r:embed="rId4"/>
          <a:stretch>
            <a:fillRect/>
          </a:stretch>
        </p:blipFill>
        <p:spPr>
          <a:xfrm>
            <a:off x="3529584" y="3223260"/>
            <a:ext cx="228600" cy="228600"/>
          </a:xfrm>
          <a:prstGeom prst="rect">
            <a:avLst/>
          </a:prstGeom>
        </p:spPr>
      </p:pic>
      <p:sp>
        <p:nvSpPr>
          <p:cNvPr id="27" name="Summary title 2"/>
          <p:cNvSpPr txBox="1"/>
          <p:nvPr/>
        </p:nvSpPr>
        <p:spPr>
          <a:xfrm>
            <a:off x="4009644" y="3108960"/>
            <a:ext cx="1737360" cy="457200"/>
          </a:xfrm>
          <a:prstGeom prst="rect">
            <a:avLst/>
          </a:prstGeom>
          <a:noFill/>
          <a:ln/>
        </p:spPr>
        <p:txBody>
          <a:bodyPr wrap="square" lIns="0" tIns="0" rIns="0" bIns="0" rtlCol="0" anchor="ctr"/>
          <a:lstStyle/>
          <a:p>
            <a:pPr marL="0" indent="0">
              <a:buNone/>
            </a:pPr>
            <a:r>
              <a:rPr lang="en-US" sz="1600" b="1" dirty="0">
                <a:solidFill>
                  <a:schemeClr val="tx2"/>
                </a:solidFill>
              </a:rPr>
              <a:t>Conversion</a:t>
            </a:r>
            <a:endParaRPr lang="en-US" sz="1600" dirty="0"/>
          </a:p>
        </p:txBody>
      </p:sp>
      <p:sp>
        <p:nvSpPr>
          <p:cNvPr id="28" name="Summary text 2"/>
          <p:cNvSpPr txBox="1"/>
          <p:nvPr/>
        </p:nvSpPr>
        <p:spPr>
          <a:xfrm>
            <a:off x="3415284" y="3657600"/>
            <a:ext cx="2331720" cy="868680"/>
          </a:xfrm>
          <a:prstGeom prst="rect">
            <a:avLst/>
          </a:prstGeom>
          <a:noFill/>
          <a:ln/>
        </p:spPr>
        <p:txBody>
          <a:bodyPr wrap="square" lIns="0" tIns="0" rIns="0" bIns="0" rtlCol="0" anchor="t"/>
          <a:lstStyle/>
          <a:p>
            <a:pPr marL="0" indent="0">
              <a:buNone/>
            </a:pPr>
            <a:r>
              <a:rPr lang="en-US" sz="1400" dirty="0">
                <a:solidFill>
                  <a:schemeClr val="tx1"/>
                </a:solidFill>
              </a:rPr>
              <a:t>iPhone converts at 21% vs Desktop's 47%; 59% of searches never reach a message.</a:t>
            </a:r>
            <a:endParaRPr lang="en-US" sz="1400" dirty="0"/>
          </a:p>
        </p:txBody>
      </p:sp>
      <p:sp>
        <p:nvSpPr>
          <p:cNvPr id="29" name="Summary card 3"/>
          <p:cNvSpPr/>
          <p:nvPr/>
        </p:nvSpPr>
        <p:spPr>
          <a:xfrm>
            <a:off x="6007608" y="2971800"/>
            <a:ext cx="2679192" cy="1600200"/>
          </a:xfrm>
          <a:prstGeom prst="roundRect">
            <a:avLst>
              <a:gd name="adj" fmla="val 5714"/>
            </a:avLst>
          </a:prstGeom>
          <a:solidFill>
            <a:schemeClr val="bg2"/>
          </a:solidFill>
          <a:ln/>
        </p:spPr>
      </p:sp>
      <p:sp>
        <p:nvSpPr>
          <p:cNvPr id="30" name="Summary icon 3 circle"/>
          <p:cNvSpPr/>
          <p:nvPr/>
        </p:nvSpPr>
        <p:spPr>
          <a:xfrm>
            <a:off x="6190488" y="3108960"/>
            <a:ext cx="457200" cy="457200"/>
          </a:xfrm>
          <a:prstGeom prst="ellipse">
            <a:avLst/>
          </a:prstGeom>
          <a:solidFill>
            <a:schemeClr val="accent1"/>
          </a:solidFill>
          <a:ln/>
        </p:spPr>
      </p:sp>
      <p:pic>
        <p:nvPicPr>
          <p:cNvPr id="31" name="Summary icon 3" descr="Summary icon 3"/>
          <p:cNvPicPr>
            <a:picLocks noChangeAspect="1"/>
          </p:cNvPicPr>
          <p:nvPr/>
        </p:nvPicPr>
        <p:blipFill>
          <a:blip r:embed="rId5"/>
          <a:stretch>
            <a:fillRect/>
          </a:stretch>
        </p:blipFill>
        <p:spPr>
          <a:xfrm>
            <a:off x="6304788" y="3223260"/>
            <a:ext cx="228600" cy="228600"/>
          </a:xfrm>
          <a:prstGeom prst="rect">
            <a:avLst/>
          </a:prstGeom>
        </p:spPr>
      </p:pic>
      <p:sp>
        <p:nvSpPr>
          <p:cNvPr id="32" name="Summary title 3"/>
          <p:cNvSpPr txBox="1"/>
          <p:nvPr/>
        </p:nvSpPr>
        <p:spPr>
          <a:xfrm>
            <a:off x="6784848" y="3108960"/>
            <a:ext cx="1737360" cy="457200"/>
          </a:xfrm>
          <a:prstGeom prst="rect">
            <a:avLst/>
          </a:prstGeom>
          <a:noFill/>
          <a:ln/>
        </p:spPr>
        <p:txBody>
          <a:bodyPr wrap="square" lIns="0" tIns="0" rIns="0" bIns="0" rtlCol="0" anchor="ctr"/>
          <a:lstStyle/>
          <a:p>
            <a:pPr marL="0" indent="0">
              <a:buNone/>
            </a:pPr>
            <a:r>
              <a:rPr lang="en-US" sz="1600" b="1" dirty="0">
                <a:solidFill>
                  <a:schemeClr val="tx2"/>
                </a:solidFill>
              </a:rPr>
              <a:t>Revenue</a:t>
            </a:r>
            <a:endParaRPr lang="en-US" sz="1600" dirty="0"/>
          </a:p>
        </p:txBody>
      </p:sp>
      <p:sp>
        <p:nvSpPr>
          <p:cNvPr id="33" name="Summary text 3"/>
          <p:cNvSpPr txBox="1"/>
          <p:nvPr/>
        </p:nvSpPr>
        <p:spPr>
          <a:xfrm>
            <a:off x="6190488" y="3657600"/>
            <a:ext cx="2331720" cy="868680"/>
          </a:xfrm>
          <a:prstGeom prst="rect">
            <a:avLst/>
          </a:prstGeom>
          <a:noFill/>
          <a:ln/>
        </p:spPr>
        <p:txBody>
          <a:bodyPr wrap="square" lIns="0" tIns="0" rIns="0" bIns="0" rtlCol="0" anchor="t"/>
          <a:lstStyle/>
          <a:p>
            <a:pPr marL="0" indent="0">
              <a:buNone/>
            </a:pPr>
            <a:r>
              <a:rPr lang="en-US" sz="1400" dirty="0">
                <a:solidFill>
                  <a:schemeClr val="tx1"/>
                </a:solidFill>
              </a:rPr>
              <a:t>Returning users bring 84.95% of revenue; the average booking is $249.10.</a:t>
            </a:r>
            <a:endParaRPr lang="en-US" sz="1400" dirty="0"/>
          </a:p>
        </p:txBody>
      </p:sp>
      <p:sp>
        <p:nvSpPr>
          <p:cNvPr id="34"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3400" b="1" dirty="0">
                <a:solidFill>
                  <a:schemeClr val="tx2"/>
                </a:solidFill>
              </a:rPr>
              <a:t>What the dashboard covers</a:t>
            </a:r>
            <a:endParaRPr lang="en-US" sz="3400" dirty="0"/>
          </a:p>
        </p:txBody>
      </p:sp>
      <p:sp>
        <p:nvSpPr>
          <p:cNvPr id="3" name="Text 1"/>
          <p:cNvSpPr>
            <a:spLocks noGrp="1"/>
          </p:cNvSpPr>
          <p:nvPr>
            <p:ph type="body" idx="102" hasCustomPrompt="1"/>
          </p:nvPr>
        </p:nvSpPr>
        <p:spPr>
          <a:xfrm>
            <a:off x="457200" y="960120"/>
            <a:ext cx="8229600" cy="457200"/>
          </a:xfrm>
          <a:prstGeom prst="rect">
            <a:avLst/>
          </a:prstGeom>
          <a:noFill/>
          <a:ln/>
        </p:spPr>
        <p:txBody>
          <a:bodyPr wrap="square" lIns="0" tIns="0" rIns="0" bIns="0" rtlCol="0" anchor="t"/>
          <a:lstStyle/>
          <a:p>
            <a:pPr marL="0" indent="0">
              <a:buNone/>
            </a:pPr>
            <a:r>
              <a:rPr lang="en-US" sz="1600" dirty="0">
                <a:solidFill>
                  <a:schemeClr val="tx1"/>
                </a:solidFill>
              </a:rPr>
              <a:t>Four report pages take us from raw traffic to revenue and ad strategy.</a:t>
            </a:r>
            <a:endParaRPr lang="en-US" sz="1600" dirty="0"/>
          </a:p>
        </p:txBody>
      </p:sp>
      <p:sp>
        <p:nvSpPr>
          <p:cNvPr id="4" name="Page card 1"/>
          <p:cNvSpPr/>
          <p:nvPr/>
        </p:nvSpPr>
        <p:spPr>
          <a:xfrm>
            <a:off x="457200" y="1600200"/>
            <a:ext cx="4023360" cy="1371600"/>
          </a:xfrm>
          <a:prstGeom prst="roundRect">
            <a:avLst>
              <a:gd name="adj" fmla="val 6667"/>
            </a:avLst>
          </a:prstGeom>
          <a:solidFill>
            <a:schemeClr val="bg2"/>
          </a:solidFill>
          <a:ln/>
        </p:spPr>
      </p:sp>
      <p:pic>
        <p:nvPicPr>
          <p:cNvPr id="5" name="Thumbnail EDA" descr="Thumbnail of the EDA dashboard page"/>
          <p:cNvPicPr>
            <a:picLocks noChangeAspect="1"/>
          </p:cNvPicPr>
          <p:nvPr/>
        </p:nvPicPr>
        <p:blipFill>
          <a:blip r:embed="rId3"/>
          <a:stretch>
            <a:fillRect/>
          </a:stretch>
        </p:blipFill>
        <p:spPr>
          <a:xfrm>
            <a:off x="566928" y="1725256"/>
            <a:ext cx="2011680" cy="1121489"/>
          </a:xfrm>
          <a:prstGeom prst="rect">
            <a:avLst/>
          </a:prstGeom>
        </p:spPr>
      </p:pic>
      <p:sp>
        <p:nvSpPr>
          <p:cNvPr id="6" name="Page title 1"/>
          <p:cNvSpPr txBox="1"/>
          <p:nvPr/>
        </p:nvSpPr>
        <p:spPr>
          <a:xfrm>
            <a:off x="2743200" y="1783080"/>
            <a:ext cx="1645920" cy="548640"/>
          </a:xfrm>
          <a:prstGeom prst="rect">
            <a:avLst/>
          </a:prstGeom>
          <a:noFill/>
          <a:ln/>
        </p:spPr>
        <p:txBody>
          <a:bodyPr wrap="square" lIns="0" tIns="0" rIns="0" bIns="0" rtlCol="0" anchor="t"/>
          <a:lstStyle/>
          <a:p>
            <a:pPr marL="0" indent="0">
              <a:buNone/>
            </a:pPr>
            <a:r>
              <a:rPr lang="en-US" sz="1400" b="1" dirty="0">
                <a:solidFill>
                  <a:schemeClr val="tx2"/>
                </a:solidFill>
              </a:rPr>
              <a:t>EDA</a:t>
            </a:r>
            <a:endParaRPr lang="en-US" sz="1400" dirty="0"/>
          </a:p>
        </p:txBody>
      </p:sp>
      <p:sp>
        <p:nvSpPr>
          <p:cNvPr id="7" name="Page desc 1"/>
          <p:cNvSpPr txBox="1"/>
          <p:nvPr/>
        </p:nvSpPr>
        <p:spPr>
          <a:xfrm>
            <a:off x="2743200" y="2377440"/>
            <a:ext cx="1645920" cy="502920"/>
          </a:xfrm>
          <a:prstGeom prst="rect">
            <a:avLst/>
          </a:prstGeom>
          <a:noFill/>
          <a:ln/>
        </p:spPr>
        <p:txBody>
          <a:bodyPr wrap="square" lIns="0" tIns="0" rIns="0" bIns="0" rtlCol="0" anchor="t"/>
          <a:lstStyle/>
          <a:p>
            <a:pPr marL="0" indent="0">
              <a:buNone/>
            </a:pPr>
            <a:r>
              <a:rPr lang="en-US" sz="1400" dirty="0">
                <a:solidFill>
                  <a:schemeClr val="tx1"/>
                </a:solidFill>
              </a:rPr>
              <a:t>KPIs, devices, apps, trends</a:t>
            </a:r>
            <a:endParaRPr lang="en-US" sz="1400" dirty="0"/>
          </a:p>
        </p:txBody>
      </p:sp>
      <p:sp>
        <p:nvSpPr>
          <p:cNvPr id="8" name="Page card 2"/>
          <p:cNvSpPr/>
          <p:nvPr/>
        </p:nvSpPr>
        <p:spPr>
          <a:xfrm>
            <a:off x="4663440" y="1600200"/>
            <a:ext cx="4023360" cy="1371600"/>
          </a:xfrm>
          <a:prstGeom prst="roundRect">
            <a:avLst>
              <a:gd name="adj" fmla="val 6667"/>
            </a:avLst>
          </a:prstGeom>
          <a:solidFill>
            <a:schemeClr val="bg2"/>
          </a:solidFill>
          <a:ln/>
        </p:spPr>
      </p:sp>
      <p:pic>
        <p:nvPicPr>
          <p:cNvPr id="9" name="Thumbnail User Demographics" descr="Thumbnail of the User Demographics dashboard page"/>
          <p:cNvPicPr>
            <a:picLocks noChangeAspect="1"/>
          </p:cNvPicPr>
          <p:nvPr/>
        </p:nvPicPr>
        <p:blipFill>
          <a:blip r:embed="rId4"/>
          <a:stretch>
            <a:fillRect/>
          </a:stretch>
        </p:blipFill>
        <p:spPr>
          <a:xfrm>
            <a:off x="4773168" y="1726516"/>
            <a:ext cx="2011680" cy="1118968"/>
          </a:xfrm>
          <a:prstGeom prst="rect">
            <a:avLst/>
          </a:prstGeom>
        </p:spPr>
      </p:pic>
      <p:sp>
        <p:nvSpPr>
          <p:cNvPr id="10" name="Page title 2"/>
          <p:cNvSpPr txBox="1"/>
          <p:nvPr/>
        </p:nvSpPr>
        <p:spPr>
          <a:xfrm>
            <a:off x="6949440" y="1783080"/>
            <a:ext cx="1645920" cy="548640"/>
          </a:xfrm>
          <a:prstGeom prst="rect">
            <a:avLst/>
          </a:prstGeom>
          <a:noFill/>
          <a:ln/>
        </p:spPr>
        <p:txBody>
          <a:bodyPr wrap="square" lIns="0" tIns="0" rIns="0" bIns="0" rtlCol="0" anchor="t"/>
          <a:lstStyle/>
          <a:p>
            <a:pPr marL="0" indent="0">
              <a:buNone/>
            </a:pPr>
            <a:r>
              <a:rPr lang="en-US" sz="1400" b="1" dirty="0">
                <a:solidFill>
                  <a:schemeClr val="tx2"/>
                </a:solidFill>
              </a:rPr>
              <a:t>User Demographics</a:t>
            </a:r>
            <a:endParaRPr lang="en-US" sz="1400" dirty="0"/>
          </a:p>
        </p:txBody>
      </p:sp>
      <p:sp>
        <p:nvSpPr>
          <p:cNvPr id="11" name="Page desc 2"/>
          <p:cNvSpPr txBox="1"/>
          <p:nvPr/>
        </p:nvSpPr>
        <p:spPr>
          <a:xfrm>
            <a:off x="6949440" y="2377440"/>
            <a:ext cx="1645920" cy="502920"/>
          </a:xfrm>
          <a:prstGeom prst="rect">
            <a:avLst/>
          </a:prstGeom>
          <a:noFill/>
          <a:ln/>
        </p:spPr>
        <p:txBody>
          <a:bodyPr wrap="square" lIns="0" tIns="0" rIns="0" bIns="0" rtlCol="0" anchor="t"/>
          <a:lstStyle/>
          <a:p>
            <a:pPr marL="0" indent="0">
              <a:buNone/>
            </a:pPr>
            <a:r>
              <a:rPr lang="en-US" sz="1400" dirty="0">
                <a:solidFill>
                  <a:schemeClr val="tx1"/>
                </a:solidFill>
              </a:rPr>
              <a:t>Age, gender and spend</a:t>
            </a:r>
            <a:endParaRPr lang="en-US" sz="1400" dirty="0"/>
          </a:p>
        </p:txBody>
      </p:sp>
      <p:sp>
        <p:nvSpPr>
          <p:cNvPr id="12" name="Page card 3"/>
          <p:cNvSpPr/>
          <p:nvPr/>
        </p:nvSpPr>
        <p:spPr>
          <a:xfrm>
            <a:off x="457200" y="3108960"/>
            <a:ext cx="4023360" cy="1371600"/>
          </a:xfrm>
          <a:prstGeom prst="roundRect">
            <a:avLst>
              <a:gd name="adj" fmla="val 6667"/>
            </a:avLst>
          </a:prstGeom>
          <a:solidFill>
            <a:schemeClr val="bg2"/>
          </a:solidFill>
          <a:ln/>
        </p:spPr>
      </p:sp>
      <p:pic>
        <p:nvPicPr>
          <p:cNvPr id="13" name="Thumbnail Temporal &amp; Booking Trends" descr="Thumbnail of the Temporal &amp; Booking Trends dashboard page"/>
          <p:cNvPicPr>
            <a:picLocks noChangeAspect="1"/>
          </p:cNvPicPr>
          <p:nvPr/>
        </p:nvPicPr>
        <p:blipFill>
          <a:blip r:embed="rId5"/>
          <a:stretch>
            <a:fillRect/>
          </a:stretch>
        </p:blipFill>
        <p:spPr>
          <a:xfrm>
            <a:off x="566928" y="3218855"/>
            <a:ext cx="2011680" cy="1151810"/>
          </a:xfrm>
          <a:prstGeom prst="rect">
            <a:avLst/>
          </a:prstGeom>
        </p:spPr>
      </p:pic>
      <p:sp>
        <p:nvSpPr>
          <p:cNvPr id="14" name="Page title 3"/>
          <p:cNvSpPr txBox="1"/>
          <p:nvPr/>
        </p:nvSpPr>
        <p:spPr>
          <a:xfrm>
            <a:off x="2743200" y="3291840"/>
            <a:ext cx="1645920" cy="548640"/>
          </a:xfrm>
          <a:prstGeom prst="rect">
            <a:avLst/>
          </a:prstGeom>
          <a:noFill/>
          <a:ln/>
        </p:spPr>
        <p:txBody>
          <a:bodyPr wrap="square" lIns="0" tIns="0" rIns="0" bIns="0" rtlCol="0" anchor="t"/>
          <a:lstStyle/>
          <a:p>
            <a:pPr marL="0" indent="0">
              <a:buNone/>
            </a:pPr>
            <a:r>
              <a:rPr lang="en-US" sz="1400" b="1" dirty="0">
                <a:solidFill>
                  <a:schemeClr val="tx2"/>
                </a:solidFill>
              </a:rPr>
              <a:t>Temporal &amp; Booking Trends</a:t>
            </a:r>
            <a:endParaRPr lang="en-US" sz="1400" dirty="0"/>
          </a:p>
        </p:txBody>
      </p:sp>
      <p:sp>
        <p:nvSpPr>
          <p:cNvPr id="15" name="Page desc 3"/>
          <p:cNvSpPr txBox="1"/>
          <p:nvPr/>
        </p:nvSpPr>
        <p:spPr>
          <a:xfrm>
            <a:off x="2743200" y="3886200"/>
            <a:ext cx="1645920" cy="502920"/>
          </a:xfrm>
          <a:prstGeom prst="rect">
            <a:avLst/>
          </a:prstGeom>
          <a:noFill/>
          <a:ln/>
        </p:spPr>
        <p:txBody>
          <a:bodyPr wrap="square" lIns="0" tIns="0" rIns="0" bIns="0" rtlCol="0" anchor="t"/>
          <a:lstStyle/>
          <a:p>
            <a:pPr marL="0" indent="0">
              <a:buNone/>
            </a:pPr>
            <a:r>
              <a:rPr lang="en-US" sz="1400" dirty="0">
                <a:solidFill>
                  <a:schemeClr val="tx1"/>
                </a:solidFill>
              </a:rPr>
              <a:t>Monthly and weekday trends</a:t>
            </a:r>
            <a:endParaRPr lang="en-US" sz="1400" dirty="0"/>
          </a:p>
        </p:txBody>
      </p:sp>
      <p:sp>
        <p:nvSpPr>
          <p:cNvPr id="16" name="Page card 4"/>
          <p:cNvSpPr/>
          <p:nvPr/>
        </p:nvSpPr>
        <p:spPr>
          <a:xfrm>
            <a:off x="4663440" y="3108960"/>
            <a:ext cx="4023360" cy="1371600"/>
          </a:xfrm>
          <a:prstGeom prst="roundRect">
            <a:avLst>
              <a:gd name="adj" fmla="val 6667"/>
            </a:avLst>
          </a:prstGeom>
          <a:solidFill>
            <a:schemeClr val="bg2"/>
          </a:solidFill>
          <a:ln/>
        </p:spPr>
      </p:sp>
      <p:pic>
        <p:nvPicPr>
          <p:cNvPr id="17" name="Thumbnail Performance &amp; Revenue Insights" descr="Thumbnail of the Performance &amp; Revenue Insights dashboard page"/>
          <p:cNvPicPr>
            <a:picLocks noChangeAspect="1"/>
          </p:cNvPicPr>
          <p:nvPr/>
        </p:nvPicPr>
        <p:blipFill>
          <a:blip r:embed="rId6"/>
          <a:stretch>
            <a:fillRect/>
          </a:stretch>
        </p:blipFill>
        <p:spPr>
          <a:xfrm>
            <a:off x="4773168" y="3234840"/>
            <a:ext cx="2011680" cy="1119840"/>
          </a:xfrm>
          <a:prstGeom prst="rect">
            <a:avLst/>
          </a:prstGeom>
        </p:spPr>
      </p:pic>
      <p:sp>
        <p:nvSpPr>
          <p:cNvPr id="18" name="Page title 4"/>
          <p:cNvSpPr txBox="1"/>
          <p:nvPr/>
        </p:nvSpPr>
        <p:spPr>
          <a:xfrm>
            <a:off x="6949440" y="3291840"/>
            <a:ext cx="1645920" cy="548640"/>
          </a:xfrm>
          <a:prstGeom prst="rect">
            <a:avLst/>
          </a:prstGeom>
          <a:noFill/>
          <a:ln/>
        </p:spPr>
        <p:txBody>
          <a:bodyPr wrap="square" lIns="0" tIns="0" rIns="0" bIns="0" rtlCol="0" anchor="t"/>
          <a:lstStyle/>
          <a:p>
            <a:pPr marL="0" indent="0">
              <a:buNone/>
            </a:pPr>
            <a:r>
              <a:rPr lang="en-US" sz="1400" b="1" dirty="0">
                <a:solidFill>
                  <a:schemeClr val="tx2"/>
                </a:solidFill>
              </a:rPr>
              <a:t>Performance &amp; Revenue Insights</a:t>
            </a:r>
            <a:endParaRPr lang="en-US" sz="1400" dirty="0"/>
          </a:p>
        </p:txBody>
      </p:sp>
      <p:sp>
        <p:nvSpPr>
          <p:cNvPr id="19" name="Page desc 4"/>
          <p:cNvSpPr txBox="1"/>
          <p:nvPr/>
        </p:nvSpPr>
        <p:spPr>
          <a:xfrm>
            <a:off x="6949440" y="3886200"/>
            <a:ext cx="1645920" cy="502920"/>
          </a:xfrm>
          <a:prstGeom prst="rect">
            <a:avLst/>
          </a:prstGeom>
          <a:noFill/>
          <a:ln/>
        </p:spPr>
        <p:txBody>
          <a:bodyPr wrap="square" lIns="0" tIns="0" rIns="0" bIns="0" rtlCol="0" anchor="t"/>
          <a:lstStyle/>
          <a:p>
            <a:pPr marL="0" indent="0">
              <a:buNone/>
            </a:pPr>
            <a:r>
              <a:rPr lang="en-US" sz="1400" dirty="0">
                <a:solidFill>
                  <a:schemeClr val="tx1"/>
                </a:solidFill>
              </a:rPr>
              <a:t>Funnel, devices, revenue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3400" b="1" dirty="0">
                <a:solidFill>
                  <a:schemeClr val="tx2"/>
                </a:solidFill>
              </a:rPr>
              <a:t>Where traffic comes from</a:t>
            </a:r>
            <a:endParaRPr lang="en-US" sz="3400" dirty="0"/>
          </a:p>
        </p:txBody>
      </p:sp>
      <p:sp>
        <p:nvSpPr>
          <p:cNvPr id="3" name="Text 1"/>
          <p:cNvSpPr>
            <a:spLocks noGrp="1"/>
          </p:cNvSpPr>
          <p:nvPr>
            <p:ph type="body" idx="102" hasCustomPrompt="1"/>
          </p:nvPr>
        </p:nvSpPr>
        <p:spPr>
          <a:xfrm>
            <a:off x="457200" y="960120"/>
            <a:ext cx="8229600" cy="457200"/>
          </a:xfrm>
          <a:prstGeom prst="rect">
            <a:avLst/>
          </a:prstGeom>
          <a:noFill/>
          <a:ln/>
        </p:spPr>
        <p:txBody>
          <a:bodyPr wrap="square" lIns="0" tIns="0" rIns="0" bIns="0" rtlCol="0" anchor="t"/>
          <a:lstStyle/>
          <a:p>
            <a:pPr marL="0" indent="0">
              <a:buNone/>
            </a:pPr>
            <a:r>
              <a:rPr lang="en-US" sz="1600" dirty="0">
                <a:solidFill>
                  <a:schemeClr val="tx1"/>
                </a:solidFill>
              </a:rPr>
              <a:t>iPhone and iOS dominate; Desktop and Web follow.</a:t>
            </a:r>
            <a:endParaRPr lang="en-US" sz="1600" dirty="0"/>
          </a:p>
        </p:txBody>
      </p:sp>
      <p:graphicFrame>
        <p:nvGraphicFramePr>
          <p:cNvPr id="4" name="Chart 0"/>
          <p:cNvGraphicFramePr/>
          <p:nvPr/>
        </p:nvGraphicFramePr>
        <p:xfrm>
          <a:off x="457200" y="1554480"/>
          <a:ext cx="4023360" cy="28803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1"/>
          <p:cNvGraphicFramePr/>
          <p:nvPr/>
        </p:nvGraphicFramePr>
        <p:xfrm>
          <a:off x="4663440" y="1554480"/>
          <a:ext cx="4023360" cy="2880360"/>
        </p:xfrm>
        <a:graphic>
          <a:graphicData uri="http://schemas.openxmlformats.org/drawingml/2006/chart">
            <c:chart xmlns:c="http://schemas.openxmlformats.org/drawingml/2006/chart" xmlns:r="http://schemas.openxmlformats.org/officeDocument/2006/relationships" r:id="rId4"/>
          </a:graphicData>
        </a:graphic>
      </p:graphicFrame>
      <p:sp>
        <p:nvSpPr>
          <p:cNvPr id="6" name="Caption"/>
          <p:cNvSpPr txBox="1"/>
          <p:nvPr/>
        </p:nvSpPr>
        <p:spPr>
          <a:xfrm>
            <a:off x="457200" y="4498848"/>
            <a:ext cx="8229600" cy="201168"/>
          </a:xfrm>
          <a:prstGeom prst="rect">
            <a:avLst/>
          </a:prstGeom>
          <a:noFill/>
          <a:ln/>
        </p:spPr>
        <p:txBody>
          <a:bodyPr wrap="square" lIns="0" tIns="0" rIns="0" bIns="0" rtlCol="0" anchor="t"/>
          <a:lstStyle/>
          <a:p>
            <a:pPr marL="0" indent="0">
              <a:buNone/>
            </a:pPr>
            <a:r>
              <a:rPr lang="en-US" sz="1100" dirty="0">
                <a:solidFill>
                  <a:schemeClr val="accent5"/>
                </a:solidFill>
              </a:rPr>
              <a:t>Device values are approximate, read from the dashboard chart. App chart shows labelled segments only.</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3400" b="1" dirty="0">
                <a:solidFill>
                  <a:schemeClr val="tx2"/>
                </a:solidFill>
              </a:rPr>
              <a:t>Who the users are</a:t>
            </a:r>
            <a:endParaRPr lang="en-US" sz="3400" dirty="0"/>
          </a:p>
        </p:txBody>
      </p:sp>
      <p:sp>
        <p:nvSpPr>
          <p:cNvPr id="3" name="Text 1"/>
          <p:cNvSpPr>
            <a:spLocks noGrp="1"/>
          </p:cNvSpPr>
          <p:nvPr>
            <p:ph type="body" idx="102" hasCustomPrompt="1"/>
          </p:nvPr>
        </p:nvSpPr>
        <p:spPr>
          <a:xfrm>
            <a:off x="457200" y="960120"/>
            <a:ext cx="8229600" cy="457200"/>
          </a:xfrm>
          <a:prstGeom prst="rect">
            <a:avLst/>
          </a:prstGeom>
          <a:noFill/>
          <a:ln/>
        </p:spPr>
        <p:txBody>
          <a:bodyPr wrap="square" lIns="0" tIns="0" rIns="0" bIns="0" rtlCol="0" anchor="t"/>
          <a:lstStyle/>
          <a:p>
            <a:pPr marL="0" indent="0">
              <a:buNone/>
            </a:pPr>
            <a:r>
              <a:rPr lang="en-US" sz="1600" dirty="0">
                <a:solidFill>
                  <a:schemeClr val="tx1"/>
                </a:solidFill>
              </a:rPr>
              <a:t>Women are 56% of users, and the core age group is 25–35.</a:t>
            </a:r>
            <a:endParaRPr lang="en-US" sz="1600" dirty="0"/>
          </a:p>
        </p:txBody>
      </p:sp>
      <p:graphicFrame>
        <p:nvGraphicFramePr>
          <p:cNvPr id="4" name="Chart 0"/>
          <p:cNvGraphicFramePr/>
          <p:nvPr>
            <p:extLst>
              <p:ext uri="{D42A27DB-BD31-4B8C-83A1-F6EECF244321}">
                <p14:modId xmlns:p14="http://schemas.microsoft.com/office/powerpoint/2010/main" val="345576642"/>
              </p:ext>
            </p:extLst>
          </p:nvPr>
        </p:nvGraphicFramePr>
        <p:xfrm>
          <a:off x="457200" y="1554480"/>
          <a:ext cx="3291840" cy="2971800"/>
        </p:xfrm>
        <a:graphic>
          <a:graphicData uri="http://schemas.openxmlformats.org/drawingml/2006/chart">
            <c:chart xmlns:c="http://schemas.openxmlformats.org/drawingml/2006/chart" xmlns:r="http://schemas.openxmlformats.org/officeDocument/2006/relationships" r:id="rId3"/>
          </a:graphicData>
        </a:graphic>
      </p:graphicFrame>
      <p:pic>
        <p:nvPicPr>
          <p:cNvPr id="5" name="Age distribution chart" descr="Histogram of users by age and gender; the distribution peaks around age 30"/>
          <p:cNvPicPr>
            <a:picLocks noChangeAspect="1"/>
          </p:cNvPicPr>
          <p:nvPr/>
        </p:nvPicPr>
        <p:blipFill>
          <a:blip r:embed="rId4"/>
          <a:stretch>
            <a:fillRect/>
          </a:stretch>
        </p:blipFill>
        <p:spPr>
          <a:xfrm>
            <a:off x="4023360" y="1554480"/>
            <a:ext cx="4663440" cy="1742763"/>
          </a:xfrm>
          <a:prstGeom prst="rect">
            <a:avLst/>
          </a:prstGeom>
        </p:spPr>
      </p:pic>
      <p:sp>
        <p:nvSpPr>
          <p:cNvPr id="6" name="Core age card"/>
          <p:cNvSpPr/>
          <p:nvPr/>
        </p:nvSpPr>
        <p:spPr>
          <a:xfrm>
            <a:off x="4023360" y="3480123"/>
            <a:ext cx="2240280" cy="960120"/>
          </a:xfrm>
          <a:prstGeom prst="roundRect">
            <a:avLst>
              <a:gd name="adj" fmla="val 9524"/>
            </a:avLst>
          </a:prstGeom>
          <a:solidFill>
            <a:schemeClr val="bg2"/>
          </a:solidFill>
          <a:ln/>
        </p:spPr>
      </p:sp>
      <p:sp>
        <p:nvSpPr>
          <p:cNvPr id="7" name="Core age value"/>
          <p:cNvSpPr txBox="1"/>
          <p:nvPr/>
        </p:nvSpPr>
        <p:spPr>
          <a:xfrm>
            <a:off x="4251960" y="3589851"/>
            <a:ext cx="1783080" cy="411480"/>
          </a:xfrm>
          <a:prstGeom prst="rect">
            <a:avLst/>
          </a:prstGeom>
          <a:noFill/>
          <a:ln/>
        </p:spPr>
        <p:txBody>
          <a:bodyPr wrap="square" lIns="0" tIns="0" rIns="0" bIns="0" rtlCol="0" anchor="ctr"/>
          <a:lstStyle/>
          <a:p>
            <a:pPr marL="0" indent="0">
              <a:buNone/>
            </a:pPr>
            <a:r>
              <a:rPr lang="en-US" sz="2400" b="1" dirty="0">
                <a:solidFill>
                  <a:schemeClr val="accent1"/>
                </a:solidFill>
                <a:latin typeface="Cambria" pitchFamily="34" charset="0"/>
                <a:ea typeface="Cambria" pitchFamily="34" charset="-122"/>
                <a:cs typeface="Cambria" pitchFamily="34" charset="-120"/>
              </a:rPr>
              <a:t>25–35</a:t>
            </a:r>
            <a:endParaRPr lang="en-US" sz="2400" dirty="0"/>
          </a:p>
        </p:txBody>
      </p:sp>
      <p:sp>
        <p:nvSpPr>
          <p:cNvPr id="8" name="Core age label"/>
          <p:cNvSpPr txBox="1"/>
          <p:nvPr/>
        </p:nvSpPr>
        <p:spPr>
          <a:xfrm>
            <a:off x="4251960" y="4001331"/>
            <a:ext cx="1783080" cy="365760"/>
          </a:xfrm>
          <a:prstGeom prst="rect">
            <a:avLst/>
          </a:prstGeom>
          <a:noFill/>
          <a:ln/>
        </p:spPr>
        <p:txBody>
          <a:bodyPr wrap="square" lIns="0" tIns="0" rIns="0" bIns="0" rtlCol="0" anchor="t"/>
          <a:lstStyle/>
          <a:p>
            <a:pPr marL="0" indent="0">
              <a:buNone/>
            </a:pPr>
            <a:r>
              <a:rPr lang="en-US" sz="1400" dirty="0">
                <a:solidFill>
                  <a:schemeClr val="tx1"/>
                </a:solidFill>
              </a:rPr>
              <a:t>core age group</a:t>
            </a:r>
            <a:endParaRPr lang="en-US" sz="1400" dirty="0"/>
          </a:p>
        </p:txBody>
      </p:sp>
      <p:sp>
        <p:nvSpPr>
          <p:cNvPr id="9" name="Peak age card"/>
          <p:cNvSpPr/>
          <p:nvPr/>
        </p:nvSpPr>
        <p:spPr>
          <a:xfrm>
            <a:off x="6446520" y="3480123"/>
            <a:ext cx="2240280" cy="960120"/>
          </a:xfrm>
          <a:prstGeom prst="roundRect">
            <a:avLst>
              <a:gd name="adj" fmla="val 9524"/>
            </a:avLst>
          </a:prstGeom>
          <a:solidFill>
            <a:schemeClr val="bg2"/>
          </a:solidFill>
          <a:ln/>
        </p:spPr>
      </p:sp>
      <p:sp>
        <p:nvSpPr>
          <p:cNvPr id="10" name="Peak age value"/>
          <p:cNvSpPr txBox="1"/>
          <p:nvPr/>
        </p:nvSpPr>
        <p:spPr>
          <a:xfrm>
            <a:off x="6675120" y="3589851"/>
            <a:ext cx="1783080" cy="411480"/>
          </a:xfrm>
          <a:prstGeom prst="rect">
            <a:avLst/>
          </a:prstGeom>
          <a:noFill/>
          <a:ln/>
        </p:spPr>
        <p:txBody>
          <a:bodyPr wrap="square" lIns="0" tIns="0" rIns="0" bIns="0" rtlCol="0" anchor="ctr"/>
          <a:lstStyle/>
          <a:p>
            <a:pPr marL="0" indent="0">
              <a:buNone/>
            </a:pPr>
            <a:r>
              <a:rPr lang="en-US" sz="2400" b="1" dirty="0">
                <a:solidFill>
                  <a:schemeClr val="accent1"/>
                </a:solidFill>
                <a:latin typeface="Cambria" pitchFamily="34" charset="0"/>
                <a:ea typeface="Cambria" pitchFamily="34" charset="-122"/>
                <a:cs typeface="Cambria" pitchFamily="34" charset="-120"/>
              </a:rPr>
              <a:t>≈30</a:t>
            </a:r>
            <a:endParaRPr lang="en-US" sz="2400" dirty="0"/>
          </a:p>
        </p:txBody>
      </p:sp>
      <p:sp>
        <p:nvSpPr>
          <p:cNvPr id="11" name="Peak age label"/>
          <p:cNvSpPr txBox="1"/>
          <p:nvPr/>
        </p:nvSpPr>
        <p:spPr>
          <a:xfrm>
            <a:off x="6675120" y="4001331"/>
            <a:ext cx="1783080" cy="365760"/>
          </a:xfrm>
          <a:prstGeom prst="rect">
            <a:avLst/>
          </a:prstGeom>
          <a:noFill/>
          <a:ln/>
        </p:spPr>
        <p:txBody>
          <a:bodyPr wrap="square" lIns="0" tIns="0" rIns="0" bIns="0" rtlCol="0" anchor="t"/>
          <a:lstStyle/>
          <a:p>
            <a:pPr marL="0" indent="0">
              <a:buNone/>
            </a:pPr>
            <a:r>
              <a:rPr lang="en-US" sz="1400" dirty="0">
                <a:solidFill>
                  <a:schemeClr val="tx1"/>
                </a:solidFill>
              </a:rPr>
              <a:t>age with the most users</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3400" b="1" dirty="0">
                <a:solidFill>
                  <a:schemeClr val="tx2"/>
                </a:solidFill>
              </a:rPr>
              <a:t>Who spends the most</a:t>
            </a:r>
            <a:endParaRPr lang="en-US" sz="3400" dirty="0"/>
          </a:p>
        </p:txBody>
      </p:sp>
      <p:sp>
        <p:nvSpPr>
          <p:cNvPr id="3" name="Text 1"/>
          <p:cNvSpPr>
            <a:spLocks noGrp="1"/>
          </p:cNvSpPr>
          <p:nvPr>
            <p:ph type="body" idx="102" hasCustomPrompt="1"/>
          </p:nvPr>
        </p:nvSpPr>
        <p:spPr>
          <a:xfrm>
            <a:off x="457200" y="960120"/>
            <a:ext cx="8229600" cy="457200"/>
          </a:xfrm>
          <a:prstGeom prst="rect">
            <a:avLst/>
          </a:prstGeom>
          <a:noFill/>
          <a:ln/>
        </p:spPr>
        <p:txBody>
          <a:bodyPr wrap="square" lIns="0" tIns="0" rIns="0" bIns="0" rtlCol="0" anchor="t"/>
          <a:lstStyle/>
          <a:p>
            <a:pPr marL="0" indent="0">
              <a:buNone/>
            </a:pPr>
            <a:r>
              <a:rPr lang="en-US" sz="1600" dirty="0">
                <a:solidFill>
                  <a:schemeClr val="tx1"/>
                </a:solidFill>
              </a:rPr>
              <a:t>Ages 22–35 spend the most, and the biggest spenders are mostly male.</a:t>
            </a:r>
            <a:endParaRPr lang="en-US" sz="1600" dirty="0"/>
          </a:p>
        </p:txBody>
      </p:sp>
      <p:pic>
        <p:nvPicPr>
          <p:cNvPr id="4" name="Age vs revenue scatter" descr="Scatter of age against total booking amount by gender; highest totals are male users aged 22 to 35"/>
          <p:cNvPicPr>
            <a:picLocks noChangeAspect="1"/>
          </p:cNvPicPr>
          <p:nvPr/>
        </p:nvPicPr>
        <p:blipFill>
          <a:blip r:embed="rId3"/>
          <a:stretch>
            <a:fillRect/>
          </a:stretch>
        </p:blipFill>
        <p:spPr>
          <a:xfrm>
            <a:off x="457200" y="1554480"/>
            <a:ext cx="5120640" cy="2911899"/>
          </a:xfrm>
          <a:prstGeom prst="rect">
            <a:avLst/>
          </a:prstGeom>
        </p:spPr>
      </p:pic>
      <p:sp>
        <p:nvSpPr>
          <p:cNvPr id="5" name="Avg spend card"/>
          <p:cNvSpPr/>
          <p:nvPr/>
        </p:nvSpPr>
        <p:spPr>
          <a:xfrm>
            <a:off x="5852160" y="1554480"/>
            <a:ext cx="2834640" cy="914400"/>
          </a:xfrm>
          <a:prstGeom prst="roundRect">
            <a:avLst>
              <a:gd name="adj" fmla="val 10000"/>
            </a:avLst>
          </a:prstGeom>
          <a:solidFill>
            <a:schemeClr val="bg2"/>
          </a:solidFill>
          <a:ln/>
        </p:spPr>
      </p:sp>
      <p:sp>
        <p:nvSpPr>
          <p:cNvPr id="6" name="Avg spend value"/>
          <p:cNvSpPr txBox="1"/>
          <p:nvPr/>
        </p:nvSpPr>
        <p:spPr>
          <a:xfrm>
            <a:off x="6080760" y="1664208"/>
            <a:ext cx="2377440" cy="411480"/>
          </a:xfrm>
          <a:prstGeom prst="rect">
            <a:avLst/>
          </a:prstGeom>
          <a:noFill/>
          <a:ln/>
        </p:spPr>
        <p:txBody>
          <a:bodyPr wrap="square" lIns="0" tIns="0" rIns="0" bIns="0" rtlCol="0" anchor="ctr"/>
          <a:lstStyle/>
          <a:p>
            <a:pPr marL="0" indent="0">
              <a:buNone/>
            </a:pPr>
            <a:r>
              <a:rPr lang="en-US" sz="2400" b="1" dirty="0">
                <a:solidFill>
                  <a:schemeClr val="accent1"/>
                </a:solidFill>
                <a:latin typeface="Cambria" pitchFamily="34" charset="0"/>
                <a:ea typeface="Cambria" pitchFamily="34" charset="-122"/>
                <a:cs typeface="Cambria" pitchFamily="34" charset="-120"/>
              </a:rPr>
              <a:t>$249.10</a:t>
            </a:r>
            <a:endParaRPr lang="en-US" sz="2400" dirty="0"/>
          </a:p>
        </p:txBody>
      </p:sp>
      <p:sp>
        <p:nvSpPr>
          <p:cNvPr id="7" name="Avg spend label"/>
          <p:cNvSpPr txBox="1"/>
          <p:nvPr/>
        </p:nvSpPr>
        <p:spPr>
          <a:xfrm>
            <a:off x="6080760" y="2075688"/>
            <a:ext cx="2377440" cy="320040"/>
          </a:xfrm>
          <a:prstGeom prst="rect">
            <a:avLst/>
          </a:prstGeom>
          <a:noFill/>
          <a:ln/>
        </p:spPr>
        <p:txBody>
          <a:bodyPr wrap="square" lIns="0" tIns="0" rIns="0" bIns="0" rtlCol="0" anchor="t"/>
          <a:lstStyle/>
          <a:p>
            <a:pPr marL="0" indent="0">
              <a:buNone/>
            </a:pPr>
            <a:r>
              <a:rPr lang="en-US" sz="1400" dirty="0">
                <a:solidFill>
                  <a:schemeClr val="tx1"/>
                </a:solidFill>
              </a:rPr>
              <a:t>average spent per booking</a:t>
            </a:r>
            <a:endParaRPr lang="en-US" sz="1400" dirty="0"/>
          </a:p>
        </p:txBody>
      </p:sp>
      <p:sp>
        <p:nvSpPr>
          <p:cNvPr id="8" name="Top ages card"/>
          <p:cNvSpPr/>
          <p:nvPr/>
        </p:nvSpPr>
        <p:spPr>
          <a:xfrm>
            <a:off x="5852160" y="2606040"/>
            <a:ext cx="2834640" cy="914400"/>
          </a:xfrm>
          <a:prstGeom prst="roundRect">
            <a:avLst>
              <a:gd name="adj" fmla="val 10000"/>
            </a:avLst>
          </a:prstGeom>
          <a:solidFill>
            <a:schemeClr val="bg2"/>
          </a:solidFill>
          <a:ln/>
        </p:spPr>
      </p:sp>
      <p:sp>
        <p:nvSpPr>
          <p:cNvPr id="9" name="Top ages value"/>
          <p:cNvSpPr txBox="1"/>
          <p:nvPr/>
        </p:nvSpPr>
        <p:spPr>
          <a:xfrm>
            <a:off x="6080760" y="2715768"/>
            <a:ext cx="2377440" cy="411480"/>
          </a:xfrm>
          <a:prstGeom prst="rect">
            <a:avLst/>
          </a:prstGeom>
          <a:noFill/>
          <a:ln/>
        </p:spPr>
        <p:txBody>
          <a:bodyPr wrap="square" lIns="0" tIns="0" rIns="0" bIns="0" rtlCol="0" anchor="ctr"/>
          <a:lstStyle/>
          <a:p>
            <a:pPr marL="0" indent="0">
              <a:buNone/>
            </a:pPr>
            <a:r>
              <a:rPr lang="en-US" sz="2400" b="1" dirty="0">
                <a:solidFill>
                  <a:schemeClr val="accent1"/>
                </a:solidFill>
                <a:latin typeface="Cambria" pitchFamily="34" charset="0"/>
                <a:ea typeface="Cambria" pitchFamily="34" charset="-122"/>
                <a:cs typeface="Cambria" pitchFamily="34" charset="-120"/>
              </a:rPr>
              <a:t>22–35</a:t>
            </a:r>
            <a:endParaRPr lang="en-US" sz="2400" dirty="0"/>
          </a:p>
        </p:txBody>
      </p:sp>
      <p:sp>
        <p:nvSpPr>
          <p:cNvPr id="10" name="Top ages label"/>
          <p:cNvSpPr txBox="1"/>
          <p:nvPr/>
        </p:nvSpPr>
        <p:spPr>
          <a:xfrm>
            <a:off x="6080760" y="3127248"/>
            <a:ext cx="2377440" cy="320040"/>
          </a:xfrm>
          <a:prstGeom prst="rect">
            <a:avLst/>
          </a:prstGeom>
          <a:noFill/>
          <a:ln/>
        </p:spPr>
        <p:txBody>
          <a:bodyPr wrap="square" lIns="0" tIns="0" rIns="0" bIns="0" rtlCol="0" anchor="t"/>
          <a:lstStyle/>
          <a:p>
            <a:pPr marL="0" indent="0">
              <a:buNone/>
            </a:pPr>
            <a:r>
              <a:rPr lang="en-US" sz="1400" dirty="0">
                <a:solidFill>
                  <a:schemeClr val="tx1"/>
                </a:solidFill>
              </a:rPr>
              <a:t>highest-spending ages</a:t>
            </a:r>
            <a:endParaRPr lang="en-US" sz="1400" dirty="0"/>
          </a:p>
        </p:txBody>
      </p:sp>
      <p:sp>
        <p:nvSpPr>
          <p:cNvPr id="11" name="Older ages card"/>
          <p:cNvSpPr/>
          <p:nvPr/>
        </p:nvSpPr>
        <p:spPr>
          <a:xfrm>
            <a:off x="5852160" y="3657600"/>
            <a:ext cx="2834640" cy="914400"/>
          </a:xfrm>
          <a:prstGeom prst="roundRect">
            <a:avLst>
              <a:gd name="adj" fmla="val 10000"/>
            </a:avLst>
          </a:prstGeom>
          <a:solidFill>
            <a:schemeClr val="tx2"/>
          </a:solidFill>
          <a:ln/>
        </p:spPr>
      </p:sp>
      <p:sp>
        <p:nvSpPr>
          <p:cNvPr id="12" name="Older ages value"/>
          <p:cNvSpPr txBox="1"/>
          <p:nvPr/>
        </p:nvSpPr>
        <p:spPr>
          <a:xfrm>
            <a:off x="6080760" y="3767328"/>
            <a:ext cx="2377440" cy="411480"/>
          </a:xfrm>
          <a:prstGeom prst="rect">
            <a:avLst/>
          </a:prstGeom>
          <a:noFill/>
          <a:ln/>
        </p:spPr>
        <p:txBody>
          <a:bodyPr wrap="square" lIns="0" tIns="0" rIns="0" bIns="0" rtlCol="0" anchor="ctr"/>
          <a:lstStyle/>
          <a:p>
            <a:pPr marL="0" indent="0">
              <a:buNone/>
            </a:pPr>
            <a:r>
              <a:rPr lang="en-US" sz="2400" b="1" dirty="0">
                <a:solidFill>
                  <a:schemeClr val="bg1"/>
                </a:solidFill>
                <a:latin typeface="Cambria" pitchFamily="34" charset="0"/>
                <a:ea typeface="Cambria" pitchFamily="34" charset="-122"/>
                <a:cs typeface="Cambria" pitchFamily="34" charset="-120"/>
              </a:rPr>
              <a:t>40+</a:t>
            </a:r>
            <a:endParaRPr lang="en-US" sz="2400" dirty="0"/>
          </a:p>
        </p:txBody>
      </p:sp>
      <p:sp>
        <p:nvSpPr>
          <p:cNvPr id="13" name="Older ages label"/>
          <p:cNvSpPr txBox="1"/>
          <p:nvPr/>
        </p:nvSpPr>
        <p:spPr>
          <a:xfrm>
            <a:off x="6080760" y="4178808"/>
            <a:ext cx="2377440" cy="320040"/>
          </a:xfrm>
          <a:prstGeom prst="rect">
            <a:avLst/>
          </a:prstGeom>
          <a:noFill/>
          <a:ln/>
        </p:spPr>
        <p:txBody>
          <a:bodyPr wrap="square" lIns="0" tIns="0" rIns="0" bIns="0" rtlCol="0" anchor="t"/>
          <a:lstStyle/>
          <a:p>
            <a:pPr marL="0" indent="0">
              <a:buNone/>
            </a:pPr>
            <a:r>
              <a:rPr lang="en-US" sz="1400" dirty="0">
                <a:solidFill>
                  <a:schemeClr val="bg1"/>
                </a:solidFill>
              </a:rPr>
              <a:t>spending drops significantly</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3400" b="1" dirty="0">
                <a:solidFill>
                  <a:schemeClr val="tx2"/>
                </a:solidFill>
              </a:rPr>
              <a:t>When users engage</a:t>
            </a:r>
            <a:endParaRPr lang="en-US" sz="3400" dirty="0"/>
          </a:p>
        </p:txBody>
      </p:sp>
      <p:sp>
        <p:nvSpPr>
          <p:cNvPr id="3" name="Text 1"/>
          <p:cNvSpPr>
            <a:spLocks noGrp="1"/>
          </p:cNvSpPr>
          <p:nvPr>
            <p:ph type="body" idx="102" hasCustomPrompt="1"/>
          </p:nvPr>
        </p:nvSpPr>
        <p:spPr>
          <a:xfrm>
            <a:off x="457200" y="960120"/>
            <a:ext cx="8229600" cy="457200"/>
          </a:xfrm>
          <a:prstGeom prst="rect">
            <a:avLst/>
          </a:prstGeom>
          <a:noFill/>
          <a:ln/>
        </p:spPr>
        <p:txBody>
          <a:bodyPr wrap="square" lIns="0" tIns="0" rIns="0" bIns="0" rtlCol="0" anchor="t"/>
          <a:lstStyle/>
          <a:p>
            <a:pPr marL="0" indent="0">
              <a:buNone/>
            </a:pPr>
            <a:r>
              <a:rPr lang="en-US" sz="1600" dirty="0">
                <a:solidFill>
                  <a:schemeClr val="tx1"/>
                </a:solidFill>
              </a:rPr>
              <a:t>Monday is the busiest day; weekends run about a quarter lower.</a:t>
            </a:r>
            <a:endParaRPr lang="en-US" sz="1600" dirty="0"/>
          </a:p>
        </p:txBody>
      </p:sp>
      <p:graphicFrame>
        <p:nvGraphicFramePr>
          <p:cNvPr id="4" name="Chart 0"/>
          <p:cNvGraphicFramePr/>
          <p:nvPr/>
        </p:nvGraphicFramePr>
        <p:xfrm>
          <a:off x="457200" y="1554480"/>
          <a:ext cx="4023360" cy="2880360"/>
        </p:xfrm>
        <a:graphic>
          <a:graphicData uri="http://schemas.openxmlformats.org/drawingml/2006/chart">
            <c:chart xmlns:c="http://schemas.openxmlformats.org/drawingml/2006/chart" xmlns:r="http://schemas.openxmlformats.org/officeDocument/2006/relationships" r:id="rId3"/>
          </a:graphicData>
        </a:graphic>
      </p:graphicFrame>
      <p:sp>
        <p:nvSpPr>
          <p:cNvPr id="5" name="Caption"/>
          <p:cNvSpPr txBox="1"/>
          <p:nvPr/>
        </p:nvSpPr>
        <p:spPr>
          <a:xfrm>
            <a:off x="457200" y="4498848"/>
            <a:ext cx="4023360" cy="201168"/>
          </a:xfrm>
          <a:prstGeom prst="rect">
            <a:avLst/>
          </a:prstGeom>
          <a:noFill/>
          <a:ln/>
        </p:spPr>
        <p:txBody>
          <a:bodyPr wrap="square" lIns="0" tIns="0" rIns="0" bIns="0" rtlCol="0" anchor="t"/>
          <a:lstStyle/>
          <a:p>
            <a:pPr marL="0" indent="0">
              <a:buNone/>
            </a:pPr>
            <a:r>
              <a:rPr lang="en-US" sz="1100" dirty="0">
                <a:solidFill>
                  <a:schemeClr val="accent5"/>
                </a:solidFill>
              </a:rPr>
              <a:t>Index approximated from bar lengths in the dashboard chart.</a:t>
            </a:r>
            <a:endParaRPr lang="en-US" sz="1100" dirty="0"/>
          </a:p>
        </p:txBody>
      </p:sp>
      <p:pic>
        <p:nvPicPr>
          <p:cNvPr id="6" name="Sessions trend chart" descr="Line chart of daily sessions from May 2014 to April 2015, peaking near 60 in autumn and winter"/>
          <p:cNvPicPr>
            <a:picLocks noChangeAspect="1"/>
          </p:cNvPicPr>
          <p:nvPr/>
        </p:nvPicPr>
        <p:blipFill>
          <a:blip r:embed="rId4"/>
          <a:stretch>
            <a:fillRect/>
          </a:stretch>
        </p:blipFill>
        <p:spPr>
          <a:xfrm>
            <a:off x="4663440" y="1554480"/>
            <a:ext cx="4023360" cy="1490360"/>
          </a:xfrm>
          <a:prstGeom prst="rect">
            <a:avLst/>
          </a:prstGeom>
        </p:spPr>
      </p:pic>
      <p:sp>
        <p:nvSpPr>
          <p:cNvPr id="7" name="Seasonality card"/>
          <p:cNvSpPr/>
          <p:nvPr/>
        </p:nvSpPr>
        <p:spPr>
          <a:xfrm>
            <a:off x="4663440" y="3227720"/>
            <a:ext cx="4023360" cy="1207120"/>
          </a:xfrm>
          <a:prstGeom prst="roundRect">
            <a:avLst>
              <a:gd name="adj" fmla="val 7575"/>
            </a:avLst>
          </a:prstGeom>
          <a:solidFill>
            <a:schemeClr val="bg2"/>
          </a:solidFill>
          <a:ln/>
        </p:spPr>
      </p:sp>
      <p:sp>
        <p:nvSpPr>
          <p:cNvPr id="8" name="Seasonality title"/>
          <p:cNvSpPr txBox="1"/>
          <p:nvPr/>
        </p:nvSpPr>
        <p:spPr>
          <a:xfrm>
            <a:off x="4846320" y="3337448"/>
            <a:ext cx="3657600" cy="274320"/>
          </a:xfrm>
          <a:prstGeom prst="rect">
            <a:avLst/>
          </a:prstGeom>
          <a:noFill/>
          <a:ln/>
        </p:spPr>
        <p:txBody>
          <a:bodyPr wrap="square" lIns="0" tIns="0" rIns="0" bIns="0" rtlCol="0" anchor="t"/>
          <a:lstStyle/>
          <a:p>
            <a:pPr marL="0" indent="0">
              <a:buNone/>
            </a:pPr>
            <a:r>
              <a:rPr lang="en-US" sz="1600" b="1" dirty="0">
                <a:solidFill>
                  <a:schemeClr val="tx2"/>
                </a:solidFill>
              </a:rPr>
              <a:t>Seasonality</a:t>
            </a:r>
            <a:endParaRPr lang="en-US" sz="1600" dirty="0"/>
          </a:p>
        </p:txBody>
      </p:sp>
      <p:sp>
        <p:nvSpPr>
          <p:cNvPr id="9" name="Seasonality text"/>
          <p:cNvSpPr txBox="1"/>
          <p:nvPr/>
        </p:nvSpPr>
        <p:spPr>
          <a:xfrm>
            <a:off x="4846320" y="3657488"/>
            <a:ext cx="3657600" cy="777240"/>
          </a:xfrm>
          <a:prstGeom prst="rect">
            <a:avLst/>
          </a:prstGeom>
          <a:noFill/>
          <a:ln/>
        </p:spPr>
        <p:txBody>
          <a:bodyPr wrap="square" lIns="0" tIns="0" rIns="0" bIns="0" rtlCol="0" anchor="t"/>
          <a:lstStyle/>
          <a:p>
            <a:pPr marL="0" indent="0">
              <a:buNone/>
            </a:pPr>
            <a:r>
              <a:rPr lang="en-US" sz="1400" dirty="0">
                <a:solidFill>
                  <a:schemeClr val="tx1"/>
                </a:solidFill>
              </a:rPr>
              <a:t>Daily sessions climb from July 2014, peak near 60 around Sep and Dec–Jan, then fade into spring 2015.</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3400" b="1" dirty="0">
                <a:solidFill>
                  <a:schemeClr val="tx2"/>
                </a:solidFill>
              </a:rPr>
              <a:t>Monthly click-to-booking trend</a:t>
            </a:r>
            <a:endParaRPr lang="en-US" sz="3400" dirty="0"/>
          </a:p>
        </p:txBody>
      </p:sp>
      <p:sp>
        <p:nvSpPr>
          <p:cNvPr id="3" name="Text 1"/>
          <p:cNvSpPr>
            <a:spLocks noGrp="1"/>
          </p:cNvSpPr>
          <p:nvPr>
            <p:ph type="body" idx="102" hasCustomPrompt="1"/>
          </p:nvPr>
        </p:nvSpPr>
        <p:spPr>
          <a:xfrm>
            <a:off x="457200" y="960120"/>
            <a:ext cx="8229600" cy="457200"/>
          </a:xfrm>
          <a:prstGeom prst="rect">
            <a:avLst/>
          </a:prstGeom>
          <a:noFill/>
          <a:ln/>
        </p:spPr>
        <p:txBody>
          <a:bodyPr wrap="square" lIns="0" tIns="0" rIns="0" bIns="0" rtlCol="0" anchor="t"/>
          <a:lstStyle/>
          <a:p>
            <a:pPr marL="0" indent="0">
              <a:buNone/>
            </a:pPr>
            <a:r>
              <a:rPr lang="en-US" sz="1600" dirty="0">
                <a:solidFill>
                  <a:schemeClr val="tx1"/>
                </a:solidFill>
              </a:rPr>
              <a:t>Clicks peaked in Aug 2014; conversion hit ~100% in Oct–Dec.</a:t>
            </a:r>
            <a:endParaRPr lang="en-US" sz="1600" dirty="0"/>
          </a:p>
        </p:txBody>
      </p:sp>
      <p:pic>
        <p:nvPicPr>
          <p:cNvPr id="4" name="Clicks, bookings and conversion chart" descr="Line chart by month of clicks, bookings and conversion rate from May 2014 to April 2015"/>
          <p:cNvPicPr>
            <a:picLocks noChangeAspect="1"/>
          </p:cNvPicPr>
          <p:nvPr/>
        </p:nvPicPr>
        <p:blipFill>
          <a:blip r:embed="rId3"/>
          <a:stretch>
            <a:fillRect/>
          </a:stretch>
        </p:blipFill>
        <p:spPr>
          <a:xfrm>
            <a:off x="457200" y="1554480"/>
            <a:ext cx="5120640" cy="2758487"/>
          </a:xfrm>
          <a:prstGeom prst="rect">
            <a:avLst/>
          </a:prstGeom>
        </p:spPr>
      </p:pic>
      <p:sp>
        <p:nvSpPr>
          <p:cNvPr id="5" name="Trend card 1"/>
          <p:cNvSpPr/>
          <p:nvPr/>
        </p:nvSpPr>
        <p:spPr>
          <a:xfrm>
            <a:off x="5806440" y="1554480"/>
            <a:ext cx="2880360" cy="822960"/>
          </a:xfrm>
          <a:prstGeom prst="roundRect">
            <a:avLst>
              <a:gd name="adj" fmla="val 11111"/>
            </a:avLst>
          </a:prstGeom>
          <a:solidFill>
            <a:schemeClr val="bg2"/>
          </a:solidFill>
          <a:ln/>
        </p:spPr>
      </p:sp>
      <p:sp>
        <p:nvSpPr>
          <p:cNvPr id="6" name="Trend text 1"/>
          <p:cNvSpPr txBox="1"/>
          <p:nvPr/>
        </p:nvSpPr>
        <p:spPr>
          <a:xfrm>
            <a:off x="5943600" y="1627632"/>
            <a:ext cx="2606040" cy="685800"/>
          </a:xfrm>
          <a:prstGeom prst="rect">
            <a:avLst/>
          </a:prstGeom>
          <a:noFill/>
          <a:ln/>
        </p:spPr>
        <p:txBody>
          <a:bodyPr wrap="square" lIns="0" tIns="0" rIns="0" bIns="0" rtlCol="0" anchor="ctr"/>
          <a:lstStyle/>
          <a:p>
            <a:pPr marL="0" indent="0">
              <a:buNone/>
            </a:pPr>
            <a:r>
              <a:rPr lang="en-US" sz="1400" dirty="0">
                <a:solidFill>
                  <a:schemeClr val="tx1"/>
                </a:solidFill>
              </a:rPr>
              <a:t>Aug 2014: clicks peak near 720 while bookings keep climbing.</a:t>
            </a:r>
            <a:endParaRPr lang="en-US" sz="1400" dirty="0"/>
          </a:p>
        </p:txBody>
      </p:sp>
      <p:sp>
        <p:nvSpPr>
          <p:cNvPr id="7" name="Trend card 2"/>
          <p:cNvSpPr/>
          <p:nvPr/>
        </p:nvSpPr>
        <p:spPr>
          <a:xfrm>
            <a:off x="5806440" y="2514600"/>
            <a:ext cx="2880360" cy="822960"/>
          </a:xfrm>
          <a:prstGeom prst="roundRect">
            <a:avLst>
              <a:gd name="adj" fmla="val 11111"/>
            </a:avLst>
          </a:prstGeom>
          <a:solidFill>
            <a:schemeClr val="tx2"/>
          </a:solidFill>
          <a:ln/>
        </p:spPr>
      </p:sp>
      <p:sp>
        <p:nvSpPr>
          <p:cNvPr id="8" name="Trend text 2"/>
          <p:cNvSpPr txBox="1"/>
          <p:nvPr/>
        </p:nvSpPr>
        <p:spPr>
          <a:xfrm>
            <a:off x="5943600" y="2587752"/>
            <a:ext cx="2606040" cy="685800"/>
          </a:xfrm>
          <a:prstGeom prst="rect">
            <a:avLst/>
          </a:prstGeom>
          <a:noFill/>
          <a:ln/>
        </p:spPr>
        <p:txBody>
          <a:bodyPr wrap="square" lIns="0" tIns="0" rIns="0" bIns="0" rtlCol="0" anchor="ctr"/>
          <a:lstStyle/>
          <a:p>
            <a:pPr marL="0" indent="0">
              <a:buNone/>
            </a:pPr>
            <a:r>
              <a:rPr lang="en-US" sz="1400" dirty="0">
                <a:solidFill>
                  <a:schemeClr val="bg1"/>
                </a:solidFill>
              </a:rPr>
              <a:t>Oct–Dec 2014: conversion reaches ~100% as clicks fall to booking levels.</a:t>
            </a:r>
            <a:endParaRPr lang="en-US" sz="1400" dirty="0"/>
          </a:p>
        </p:txBody>
      </p:sp>
      <p:sp>
        <p:nvSpPr>
          <p:cNvPr id="9" name="Trend card 3"/>
          <p:cNvSpPr/>
          <p:nvPr/>
        </p:nvSpPr>
        <p:spPr>
          <a:xfrm>
            <a:off x="5806440" y="3474720"/>
            <a:ext cx="2880360" cy="822960"/>
          </a:xfrm>
          <a:prstGeom prst="roundRect">
            <a:avLst>
              <a:gd name="adj" fmla="val 11111"/>
            </a:avLst>
          </a:prstGeom>
          <a:solidFill>
            <a:schemeClr val="bg2"/>
          </a:solidFill>
          <a:ln/>
        </p:spPr>
      </p:sp>
      <p:sp>
        <p:nvSpPr>
          <p:cNvPr id="10" name="Trend text 3"/>
          <p:cNvSpPr txBox="1"/>
          <p:nvPr/>
        </p:nvSpPr>
        <p:spPr>
          <a:xfrm>
            <a:off x="5943600" y="3547872"/>
            <a:ext cx="2606040" cy="685800"/>
          </a:xfrm>
          <a:prstGeom prst="rect">
            <a:avLst/>
          </a:prstGeom>
          <a:noFill/>
          <a:ln/>
        </p:spPr>
        <p:txBody>
          <a:bodyPr wrap="square" lIns="0" tIns="0" rIns="0" bIns="0" rtlCol="0" anchor="ctr"/>
          <a:lstStyle/>
          <a:p>
            <a:pPr marL="0" indent="0">
              <a:buNone/>
            </a:pPr>
            <a:r>
              <a:rPr lang="en-US" sz="1400" dirty="0">
                <a:solidFill>
                  <a:schemeClr val="tx1"/>
                </a:solidFill>
              </a:rPr>
              <a:t>2015: clicks and bookings both fade; conversion settles near 0.2.</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3400" b="1" dirty="0">
                <a:solidFill>
                  <a:schemeClr val="tx2"/>
                </a:solidFill>
              </a:rPr>
              <a:t>The booking funnel</a:t>
            </a:r>
            <a:endParaRPr lang="en-US" sz="3400" dirty="0"/>
          </a:p>
        </p:txBody>
      </p:sp>
      <p:sp>
        <p:nvSpPr>
          <p:cNvPr id="3" name="Text 1"/>
          <p:cNvSpPr>
            <a:spLocks noGrp="1"/>
          </p:cNvSpPr>
          <p:nvPr>
            <p:ph type="body" idx="102" hasCustomPrompt="1"/>
          </p:nvPr>
        </p:nvSpPr>
        <p:spPr>
          <a:xfrm>
            <a:off x="457200" y="960120"/>
            <a:ext cx="8229600" cy="457200"/>
          </a:xfrm>
          <a:prstGeom prst="rect">
            <a:avLst/>
          </a:prstGeom>
          <a:noFill/>
          <a:ln/>
        </p:spPr>
        <p:txBody>
          <a:bodyPr wrap="square" lIns="0" tIns="0" rIns="0" bIns="0" rtlCol="0" anchor="t"/>
          <a:lstStyle/>
          <a:p>
            <a:pPr marL="0" indent="0">
              <a:buNone/>
            </a:pPr>
            <a:r>
              <a:rPr lang="en-US" sz="1600" dirty="0">
                <a:solidFill>
                  <a:schemeClr val="tx1"/>
                </a:solidFill>
              </a:rPr>
              <a:t>Most searches stop before a message; 31.58% convert end to end.</a:t>
            </a:r>
            <a:endParaRPr lang="en-US" sz="1600" dirty="0"/>
          </a:p>
        </p:txBody>
      </p:sp>
      <p:sp>
        <p:nvSpPr>
          <p:cNvPr id="4" name="Stage name 1"/>
          <p:cNvSpPr txBox="1"/>
          <p:nvPr/>
        </p:nvSpPr>
        <p:spPr>
          <a:xfrm>
            <a:off x="457200" y="1645920"/>
            <a:ext cx="1463040" cy="731520"/>
          </a:xfrm>
          <a:prstGeom prst="rect">
            <a:avLst/>
          </a:prstGeom>
          <a:noFill/>
          <a:ln/>
        </p:spPr>
        <p:txBody>
          <a:bodyPr wrap="square" lIns="0" tIns="0" rIns="0" bIns="0" rtlCol="0" anchor="ctr"/>
          <a:lstStyle/>
          <a:p>
            <a:pPr marL="0" indent="0">
              <a:buNone/>
            </a:pPr>
            <a:r>
              <a:rPr lang="en-US" sz="1400" b="1" dirty="0">
                <a:solidFill>
                  <a:schemeClr val="tx2"/>
                </a:solidFill>
              </a:rPr>
              <a:t>Search</a:t>
            </a:r>
            <a:endParaRPr lang="en-US" sz="1400" dirty="0"/>
          </a:p>
        </p:txBody>
      </p:sp>
      <p:sp>
        <p:nvSpPr>
          <p:cNvPr id="5" name="Funnel bar 1"/>
          <p:cNvSpPr/>
          <p:nvPr/>
        </p:nvSpPr>
        <p:spPr>
          <a:xfrm>
            <a:off x="2011680" y="1645920"/>
            <a:ext cx="3840480" cy="731520"/>
          </a:xfrm>
          <a:prstGeom prst="roundRect">
            <a:avLst>
              <a:gd name="adj" fmla="val 10000"/>
            </a:avLst>
          </a:prstGeom>
          <a:solidFill>
            <a:schemeClr val="accent6"/>
          </a:solidFill>
          <a:ln/>
        </p:spPr>
      </p:sp>
      <p:sp>
        <p:nvSpPr>
          <p:cNvPr id="6" name="Funnel value 1"/>
          <p:cNvSpPr txBox="1"/>
          <p:nvPr/>
        </p:nvSpPr>
        <p:spPr>
          <a:xfrm>
            <a:off x="2011680" y="1645920"/>
            <a:ext cx="3840480" cy="731520"/>
          </a:xfrm>
          <a:prstGeom prst="rect">
            <a:avLst/>
          </a:prstGeom>
          <a:noFill/>
          <a:ln/>
        </p:spPr>
        <p:txBody>
          <a:bodyPr wrap="square" lIns="0" tIns="0" rIns="0" bIns="0" rtlCol="0" anchor="ctr"/>
          <a:lstStyle/>
          <a:p>
            <a:pPr marL="0" indent="0" algn="ctr">
              <a:buNone/>
            </a:pPr>
            <a:r>
              <a:rPr lang="en-US" sz="1400" b="1" dirty="0">
                <a:solidFill>
                  <a:schemeClr val="tx1"/>
                </a:solidFill>
              </a:rPr>
              <a:t>3,116</a:t>
            </a:r>
            <a:endParaRPr lang="en-US" sz="1400" dirty="0"/>
          </a:p>
        </p:txBody>
      </p:sp>
      <p:sp>
        <p:nvSpPr>
          <p:cNvPr id="7" name="Stage name 2"/>
          <p:cNvSpPr txBox="1"/>
          <p:nvPr/>
        </p:nvSpPr>
        <p:spPr>
          <a:xfrm>
            <a:off x="457200" y="2651760"/>
            <a:ext cx="1463040" cy="731520"/>
          </a:xfrm>
          <a:prstGeom prst="rect">
            <a:avLst/>
          </a:prstGeom>
          <a:noFill/>
          <a:ln/>
        </p:spPr>
        <p:txBody>
          <a:bodyPr wrap="square" lIns="0" tIns="0" rIns="0" bIns="0" rtlCol="0" anchor="ctr"/>
          <a:lstStyle/>
          <a:p>
            <a:pPr marL="0" indent="0">
              <a:buNone/>
            </a:pPr>
            <a:r>
              <a:rPr lang="en-US" sz="1400" b="1" dirty="0">
                <a:solidFill>
                  <a:schemeClr val="tx2"/>
                </a:solidFill>
              </a:rPr>
              <a:t>Message</a:t>
            </a:r>
            <a:endParaRPr lang="en-US" sz="1400" dirty="0"/>
          </a:p>
        </p:txBody>
      </p:sp>
      <p:sp>
        <p:nvSpPr>
          <p:cNvPr id="8" name="Funnel bar 2"/>
          <p:cNvSpPr/>
          <p:nvPr/>
        </p:nvSpPr>
        <p:spPr>
          <a:xfrm>
            <a:off x="3063240" y="2651760"/>
            <a:ext cx="1737360" cy="731520"/>
          </a:xfrm>
          <a:prstGeom prst="roundRect">
            <a:avLst>
              <a:gd name="adj" fmla="val 10000"/>
            </a:avLst>
          </a:prstGeom>
          <a:solidFill>
            <a:schemeClr val="accent1"/>
          </a:solidFill>
          <a:ln/>
        </p:spPr>
      </p:sp>
      <p:sp>
        <p:nvSpPr>
          <p:cNvPr id="9" name="Funnel value 2"/>
          <p:cNvSpPr txBox="1"/>
          <p:nvPr/>
        </p:nvSpPr>
        <p:spPr>
          <a:xfrm>
            <a:off x="3063240" y="2651760"/>
            <a:ext cx="1737360" cy="731520"/>
          </a:xfrm>
          <a:prstGeom prst="rect">
            <a:avLst/>
          </a:prstGeom>
          <a:noFill/>
          <a:ln/>
        </p:spPr>
        <p:txBody>
          <a:bodyPr wrap="square" lIns="0" tIns="0" rIns="0" bIns="0" rtlCol="0" anchor="ctr"/>
          <a:lstStyle/>
          <a:p>
            <a:pPr marL="0" indent="0" algn="ctr">
              <a:buNone/>
            </a:pPr>
            <a:r>
              <a:rPr lang="en-US" sz="1400" b="1" dirty="0">
                <a:solidFill>
                  <a:schemeClr val="bg1"/>
                </a:solidFill>
              </a:rPr>
              <a:t>1,279 (41%)</a:t>
            </a:r>
            <a:endParaRPr lang="en-US" sz="1400" dirty="0"/>
          </a:p>
        </p:txBody>
      </p:sp>
      <p:sp>
        <p:nvSpPr>
          <p:cNvPr id="10" name="Stage name 3"/>
          <p:cNvSpPr txBox="1"/>
          <p:nvPr/>
        </p:nvSpPr>
        <p:spPr>
          <a:xfrm>
            <a:off x="457200" y="3657600"/>
            <a:ext cx="1463040" cy="731520"/>
          </a:xfrm>
          <a:prstGeom prst="rect">
            <a:avLst/>
          </a:prstGeom>
          <a:noFill/>
          <a:ln/>
        </p:spPr>
        <p:txBody>
          <a:bodyPr wrap="square" lIns="0" tIns="0" rIns="0" bIns="0" rtlCol="0" anchor="ctr"/>
          <a:lstStyle/>
          <a:p>
            <a:pPr marL="0" indent="0">
              <a:buNone/>
            </a:pPr>
            <a:r>
              <a:rPr lang="en-US" sz="1400" b="1" dirty="0">
                <a:solidFill>
                  <a:schemeClr val="tx2"/>
                </a:solidFill>
              </a:rPr>
              <a:t>Booking request</a:t>
            </a:r>
            <a:endParaRPr lang="en-US" sz="1400" dirty="0"/>
          </a:p>
        </p:txBody>
      </p:sp>
      <p:sp>
        <p:nvSpPr>
          <p:cNvPr id="11" name="Funnel bar 3"/>
          <p:cNvSpPr/>
          <p:nvPr/>
        </p:nvSpPr>
        <p:spPr>
          <a:xfrm>
            <a:off x="3268980" y="3657600"/>
            <a:ext cx="1325880" cy="731520"/>
          </a:xfrm>
          <a:prstGeom prst="roundRect">
            <a:avLst>
              <a:gd name="adj" fmla="val 10000"/>
            </a:avLst>
          </a:prstGeom>
          <a:solidFill>
            <a:schemeClr val="tx2"/>
          </a:solidFill>
          <a:ln/>
        </p:spPr>
      </p:sp>
      <p:sp>
        <p:nvSpPr>
          <p:cNvPr id="12" name="Funnel value 3"/>
          <p:cNvSpPr txBox="1"/>
          <p:nvPr/>
        </p:nvSpPr>
        <p:spPr>
          <a:xfrm>
            <a:off x="3268980" y="3657600"/>
            <a:ext cx="1325880" cy="731520"/>
          </a:xfrm>
          <a:prstGeom prst="rect">
            <a:avLst/>
          </a:prstGeom>
          <a:noFill/>
          <a:ln/>
        </p:spPr>
        <p:txBody>
          <a:bodyPr wrap="square" lIns="0" tIns="0" rIns="0" bIns="0" rtlCol="0" anchor="ctr"/>
          <a:lstStyle/>
          <a:p>
            <a:pPr marL="0" indent="0" algn="ctr">
              <a:buNone/>
            </a:pPr>
            <a:r>
              <a:rPr lang="en-US" sz="1400" b="1" dirty="0">
                <a:solidFill>
                  <a:schemeClr val="bg1"/>
                </a:solidFill>
              </a:rPr>
              <a:t>98</a:t>
            </a:r>
            <a:endParaRPr lang="en-US" sz="1400" dirty="0"/>
          </a:p>
        </p:txBody>
      </p:sp>
      <p:sp>
        <p:nvSpPr>
          <p:cNvPr id="13" name="Funnel insight card"/>
          <p:cNvSpPr/>
          <p:nvPr/>
        </p:nvSpPr>
        <p:spPr>
          <a:xfrm>
            <a:off x="6035040" y="1645920"/>
            <a:ext cx="2651760" cy="2834640"/>
          </a:xfrm>
          <a:prstGeom prst="roundRect">
            <a:avLst>
              <a:gd name="adj" fmla="val 3448"/>
            </a:avLst>
          </a:prstGeom>
          <a:solidFill>
            <a:schemeClr val="tx2"/>
          </a:solidFill>
          <a:ln/>
        </p:spPr>
      </p:sp>
      <p:sp>
        <p:nvSpPr>
          <p:cNvPr id="14" name="Drop-off stat"/>
          <p:cNvSpPr txBox="1"/>
          <p:nvPr/>
        </p:nvSpPr>
        <p:spPr>
          <a:xfrm>
            <a:off x="6263640" y="1783080"/>
            <a:ext cx="2194560" cy="548640"/>
          </a:xfrm>
          <a:prstGeom prst="rect">
            <a:avLst/>
          </a:prstGeom>
          <a:noFill/>
          <a:ln/>
        </p:spPr>
        <p:txBody>
          <a:bodyPr wrap="square" lIns="0" tIns="0" rIns="0" bIns="0" rtlCol="0" anchor="t"/>
          <a:lstStyle/>
          <a:p>
            <a:pPr marL="0" indent="0">
              <a:buNone/>
            </a:pPr>
            <a:r>
              <a:rPr lang="en-US" sz="3600" b="1" dirty="0">
                <a:solidFill>
                  <a:schemeClr val="bg1"/>
                </a:solidFill>
                <a:latin typeface="Cambria" pitchFamily="34" charset="0"/>
                <a:ea typeface="Cambria" pitchFamily="34" charset="-122"/>
                <a:cs typeface="Cambria" pitchFamily="34" charset="-120"/>
              </a:rPr>
              <a:t>59%</a:t>
            </a:r>
            <a:endParaRPr lang="en-US" sz="3600" dirty="0"/>
          </a:p>
        </p:txBody>
      </p:sp>
      <p:sp>
        <p:nvSpPr>
          <p:cNvPr id="15" name="Drop-off label"/>
          <p:cNvSpPr txBox="1"/>
          <p:nvPr/>
        </p:nvSpPr>
        <p:spPr>
          <a:xfrm>
            <a:off x="6263640" y="2377440"/>
            <a:ext cx="2194560" cy="548640"/>
          </a:xfrm>
          <a:prstGeom prst="rect">
            <a:avLst/>
          </a:prstGeom>
          <a:noFill/>
          <a:ln/>
        </p:spPr>
        <p:txBody>
          <a:bodyPr wrap="square" lIns="0" tIns="0" rIns="0" bIns="0" rtlCol="0" anchor="t"/>
          <a:lstStyle/>
          <a:p>
            <a:pPr marL="0" indent="0">
              <a:buNone/>
            </a:pPr>
            <a:r>
              <a:rPr lang="en-US" sz="1400" dirty="0">
                <a:solidFill>
                  <a:schemeClr val="bg1"/>
                </a:solidFill>
              </a:rPr>
              <a:t>of searches never reach a message</a:t>
            </a:r>
            <a:endParaRPr lang="en-US" sz="1400" dirty="0"/>
          </a:p>
        </p:txBody>
      </p:sp>
      <p:sp>
        <p:nvSpPr>
          <p:cNvPr id="16" name="Request stat"/>
          <p:cNvSpPr txBox="1"/>
          <p:nvPr/>
        </p:nvSpPr>
        <p:spPr>
          <a:xfrm>
            <a:off x="6263640" y="3108960"/>
            <a:ext cx="2194560" cy="548640"/>
          </a:xfrm>
          <a:prstGeom prst="rect">
            <a:avLst/>
          </a:prstGeom>
          <a:noFill/>
          <a:ln/>
        </p:spPr>
        <p:txBody>
          <a:bodyPr wrap="square" lIns="0" tIns="0" rIns="0" bIns="0" rtlCol="0" anchor="t"/>
          <a:lstStyle/>
          <a:p>
            <a:pPr marL="0" indent="0">
              <a:buNone/>
            </a:pPr>
            <a:r>
              <a:rPr lang="en-US" sz="3600" b="1" dirty="0">
                <a:solidFill>
                  <a:schemeClr val="bg1"/>
                </a:solidFill>
                <a:latin typeface="Cambria" pitchFamily="34" charset="0"/>
                <a:ea typeface="Cambria" pitchFamily="34" charset="-122"/>
                <a:cs typeface="Cambria" pitchFamily="34" charset="-120"/>
              </a:rPr>
              <a:t>77%</a:t>
            </a:r>
            <a:endParaRPr lang="en-US" sz="3600" dirty="0"/>
          </a:p>
        </p:txBody>
      </p:sp>
      <p:sp>
        <p:nvSpPr>
          <p:cNvPr id="17" name="Request label"/>
          <p:cNvSpPr txBox="1"/>
          <p:nvPr/>
        </p:nvSpPr>
        <p:spPr>
          <a:xfrm>
            <a:off x="6263640" y="3703320"/>
            <a:ext cx="2194560" cy="548640"/>
          </a:xfrm>
          <a:prstGeom prst="rect">
            <a:avLst/>
          </a:prstGeom>
          <a:noFill/>
          <a:ln/>
        </p:spPr>
        <p:txBody>
          <a:bodyPr wrap="square" lIns="0" tIns="0" rIns="0" bIns="0" rtlCol="0" anchor="t"/>
          <a:lstStyle/>
          <a:p>
            <a:pPr marL="0" indent="0">
              <a:buNone/>
            </a:pPr>
            <a:r>
              <a:rPr lang="en-US" sz="1400" dirty="0">
                <a:solidFill>
                  <a:schemeClr val="bg1"/>
                </a:solidFill>
              </a:rPr>
              <a:t>of messages become booking requests</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3400" b="1" dirty="0">
                <a:solidFill>
                  <a:schemeClr val="tx2"/>
                </a:solidFill>
              </a:rPr>
              <a:t>What drives conversion</a:t>
            </a:r>
            <a:endParaRPr lang="en-US" sz="3400" dirty="0"/>
          </a:p>
        </p:txBody>
      </p:sp>
      <p:sp>
        <p:nvSpPr>
          <p:cNvPr id="3" name="Text 1"/>
          <p:cNvSpPr>
            <a:spLocks noGrp="1"/>
          </p:cNvSpPr>
          <p:nvPr>
            <p:ph type="body" idx="102" hasCustomPrompt="1"/>
          </p:nvPr>
        </p:nvSpPr>
        <p:spPr>
          <a:xfrm>
            <a:off x="457200" y="960120"/>
            <a:ext cx="8229600" cy="457200"/>
          </a:xfrm>
          <a:prstGeom prst="rect">
            <a:avLst/>
          </a:prstGeom>
          <a:noFill/>
          <a:ln/>
        </p:spPr>
        <p:txBody>
          <a:bodyPr wrap="square" lIns="0" tIns="0" rIns="0" bIns="0" rtlCol="0" anchor="t"/>
          <a:lstStyle/>
          <a:p>
            <a:pPr marL="0" indent="0">
              <a:buNone/>
            </a:pPr>
            <a:r>
              <a:rPr lang="en-US" sz="1600" dirty="0">
                <a:solidFill>
                  <a:schemeClr val="tx1"/>
                </a:solidFill>
              </a:rPr>
              <a:t>Desktop converts 2.2x better than iPhone (47% vs 21%).</a:t>
            </a:r>
            <a:endParaRPr lang="en-US" sz="1600" dirty="0"/>
          </a:p>
        </p:txBody>
      </p:sp>
      <p:graphicFrame>
        <p:nvGraphicFramePr>
          <p:cNvPr id="4" name="Chart 0"/>
          <p:cNvGraphicFramePr/>
          <p:nvPr/>
        </p:nvGraphicFramePr>
        <p:xfrm>
          <a:off x="457200" y="1554480"/>
          <a:ext cx="4023360" cy="28803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1"/>
          <p:cNvGraphicFramePr/>
          <p:nvPr/>
        </p:nvGraphicFramePr>
        <p:xfrm>
          <a:off x="4663440" y="1554480"/>
          <a:ext cx="4023360" cy="2880360"/>
        </p:xfrm>
        <a:graphic>
          <a:graphicData uri="http://schemas.openxmlformats.org/drawingml/2006/chart">
            <c:chart xmlns:c="http://schemas.openxmlformats.org/drawingml/2006/chart" xmlns:r="http://schemas.openxmlformats.org/officeDocument/2006/relationships" r:id="rId4"/>
          </a:graphicData>
        </a:graphic>
      </p:graphicFrame>
      <p:sp>
        <p:nvSpPr>
          <p:cNvPr id="6" name="Caption"/>
          <p:cNvSpPr txBox="1"/>
          <p:nvPr/>
        </p:nvSpPr>
        <p:spPr>
          <a:xfrm>
            <a:off x="457200" y="4498848"/>
            <a:ext cx="8229600" cy="201168"/>
          </a:xfrm>
          <a:prstGeom prst="rect">
            <a:avLst/>
          </a:prstGeom>
          <a:noFill/>
          <a:ln/>
        </p:spPr>
        <p:txBody>
          <a:bodyPr wrap="square" lIns="0" tIns="0" rIns="0" bIns="0" rtlCol="0" anchor="t"/>
          <a:lstStyle/>
          <a:p>
            <a:pPr marL="0" indent="0">
              <a:buNone/>
            </a:pPr>
            <a:r>
              <a:rPr lang="en-US" sz="1100" dirty="0">
                <a:solidFill>
                  <a:schemeClr val="accent5"/>
                </a:solidFill>
              </a:rPr>
              <a:t>Overall conversion is 32%. Source: Factor Impacting Conversion decomposition tree.</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3400" b="1" dirty="0">
                <a:solidFill>
                  <a:schemeClr val="tx2"/>
                </a:solidFill>
              </a:rPr>
              <a:t>Lost potential customers</a:t>
            </a:r>
            <a:endParaRPr lang="en-US" sz="3400" dirty="0"/>
          </a:p>
        </p:txBody>
      </p:sp>
      <p:sp>
        <p:nvSpPr>
          <p:cNvPr id="3" name="Text 1"/>
          <p:cNvSpPr>
            <a:spLocks noGrp="1"/>
          </p:cNvSpPr>
          <p:nvPr>
            <p:ph type="body" idx="102" hasCustomPrompt="1"/>
          </p:nvPr>
        </p:nvSpPr>
        <p:spPr>
          <a:xfrm>
            <a:off x="457200" y="960120"/>
            <a:ext cx="8229600" cy="457200"/>
          </a:xfrm>
          <a:prstGeom prst="rect">
            <a:avLst/>
          </a:prstGeom>
          <a:noFill/>
          <a:ln/>
        </p:spPr>
        <p:txBody>
          <a:bodyPr wrap="square" lIns="0" tIns="0" rIns="0" bIns="0" rtlCol="0" anchor="t"/>
          <a:lstStyle/>
          <a:p>
            <a:pPr marL="0" indent="0">
              <a:buNone/>
            </a:pPr>
            <a:r>
              <a:rPr lang="en-US" sz="1600" dirty="0">
                <a:solidFill>
                  <a:schemeClr val="tx1"/>
                </a:solidFill>
              </a:rPr>
              <a:t>iPhone loses the most potential customers, then Desktop.</a:t>
            </a:r>
            <a:endParaRPr lang="en-US" sz="1600" dirty="0"/>
          </a:p>
        </p:txBody>
      </p:sp>
      <p:graphicFrame>
        <p:nvGraphicFramePr>
          <p:cNvPr id="4" name="Chart 0"/>
          <p:cNvGraphicFramePr/>
          <p:nvPr/>
        </p:nvGraphicFramePr>
        <p:xfrm>
          <a:off x="457200" y="1554480"/>
          <a:ext cx="5120640" cy="2880360"/>
        </p:xfrm>
        <a:graphic>
          <a:graphicData uri="http://schemas.openxmlformats.org/drawingml/2006/chart">
            <c:chart xmlns:c="http://schemas.openxmlformats.org/drawingml/2006/chart" xmlns:r="http://schemas.openxmlformats.org/officeDocument/2006/relationships" r:id="rId3"/>
          </a:graphicData>
        </a:graphic>
      </p:graphicFrame>
      <p:sp>
        <p:nvSpPr>
          <p:cNvPr id="5" name="Caption"/>
          <p:cNvSpPr txBox="1"/>
          <p:nvPr/>
        </p:nvSpPr>
        <p:spPr>
          <a:xfrm>
            <a:off x="457200" y="4498848"/>
            <a:ext cx="5120640" cy="201168"/>
          </a:xfrm>
          <a:prstGeom prst="rect">
            <a:avLst/>
          </a:prstGeom>
          <a:noFill/>
          <a:ln/>
        </p:spPr>
        <p:txBody>
          <a:bodyPr wrap="square" lIns="0" tIns="0" rIns="0" bIns="0" rtlCol="0" anchor="t"/>
          <a:lstStyle/>
          <a:p>
            <a:pPr marL="0" indent="0">
              <a:buNone/>
            </a:pPr>
            <a:r>
              <a:rPr lang="en-US" sz="1100" dirty="0">
                <a:solidFill>
                  <a:schemeClr val="accent5"/>
                </a:solidFill>
              </a:rPr>
              <a:t>Retargeting pool values are approximate, read from the dashboard chart.</a:t>
            </a:r>
            <a:endParaRPr lang="en-US" sz="1100" dirty="0"/>
          </a:p>
        </p:txBody>
      </p:sp>
      <p:sp>
        <p:nvSpPr>
          <p:cNvPr id="6" name="Retarget card"/>
          <p:cNvSpPr/>
          <p:nvPr/>
        </p:nvSpPr>
        <p:spPr>
          <a:xfrm>
            <a:off x="5806440" y="1554480"/>
            <a:ext cx="2880360" cy="1691640"/>
          </a:xfrm>
          <a:prstGeom prst="roundRect">
            <a:avLst>
              <a:gd name="adj" fmla="val 5405"/>
            </a:avLst>
          </a:prstGeom>
          <a:solidFill>
            <a:schemeClr val="tx2"/>
          </a:solidFill>
          <a:ln/>
        </p:spPr>
      </p:sp>
      <p:sp>
        <p:nvSpPr>
          <p:cNvPr id="7" name="Retarget icon circle"/>
          <p:cNvSpPr/>
          <p:nvPr/>
        </p:nvSpPr>
        <p:spPr>
          <a:xfrm>
            <a:off x="5989320" y="1691640"/>
            <a:ext cx="457200" cy="457200"/>
          </a:xfrm>
          <a:prstGeom prst="ellipse">
            <a:avLst/>
          </a:prstGeom>
          <a:solidFill>
            <a:schemeClr val="accent2"/>
          </a:solidFill>
          <a:ln/>
        </p:spPr>
      </p:sp>
      <p:pic>
        <p:nvPicPr>
          <p:cNvPr id="8" name="Retarget icon" descr="Retarget icon"/>
          <p:cNvPicPr>
            <a:picLocks noChangeAspect="1"/>
          </p:cNvPicPr>
          <p:nvPr/>
        </p:nvPicPr>
        <p:blipFill>
          <a:blip r:embed="rId4"/>
          <a:stretch>
            <a:fillRect/>
          </a:stretch>
        </p:blipFill>
        <p:spPr>
          <a:xfrm>
            <a:off x="6103620" y="1805940"/>
            <a:ext cx="228600" cy="228600"/>
          </a:xfrm>
          <a:prstGeom prst="rect">
            <a:avLst/>
          </a:prstGeom>
        </p:spPr>
      </p:pic>
      <p:sp>
        <p:nvSpPr>
          <p:cNvPr id="9" name="Retarget headline"/>
          <p:cNvSpPr txBox="1"/>
          <p:nvPr/>
        </p:nvSpPr>
        <p:spPr>
          <a:xfrm>
            <a:off x="6583680" y="1691640"/>
            <a:ext cx="1965960" cy="822960"/>
          </a:xfrm>
          <a:prstGeom prst="rect">
            <a:avLst/>
          </a:prstGeom>
          <a:noFill/>
          <a:ln/>
        </p:spPr>
        <p:txBody>
          <a:bodyPr wrap="square" lIns="0" tIns="0" rIns="0" bIns="0" rtlCol="0" anchor="ctr"/>
          <a:lstStyle/>
          <a:p>
            <a:pPr marL="0" indent="0">
              <a:buNone/>
            </a:pPr>
            <a:r>
              <a:rPr lang="en-US" sz="1400" b="1" dirty="0">
                <a:solidFill>
                  <a:schemeClr val="bg1"/>
                </a:solidFill>
              </a:rPr>
              <a:t>iPhone’s lost pool is nearly twice Desktop’s.</a:t>
            </a:r>
            <a:endParaRPr lang="en-US" sz="1400" dirty="0"/>
          </a:p>
        </p:txBody>
      </p:sp>
      <p:sp>
        <p:nvSpPr>
          <p:cNvPr id="10" name="Retarget text"/>
          <p:cNvSpPr txBox="1"/>
          <p:nvPr/>
        </p:nvSpPr>
        <p:spPr>
          <a:xfrm>
            <a:off x="5989320" y="2560320"/>
            <a:ext cx="2560320" cy="548640"/>
          </a:xfrm>
          <a:prstGeom prst="rect">
            <a:avLst/>
          </a:prstGeom>
          <a:noFill/>
          <a:ln/>
        </p:spPr>
        <p:txBody>
          <a:bodyPr wrap="square" lIns="0" tIns="0" rIns="0" bIns="0" rtlCol="0" anchor="t"/>
          <a:lstStyle/>
          <a:p>
            <a:pPr marL="0" indent="0">
              <a:buNone/>
            </a:pPr>
            <a:r>
              <a:rPr lang="en-US" sz="1400" dirty="0">
                <a:solidFill>
                  <a:schemeClr val="bg1"/>
                </a:solidFill>
              </a:rPr>
              <a:t>A ready-made retargeting audience.</a:t>
            </a:r>
            <a:endParaRPr lang="en-US" sz="1400" dirty="0"/>
          </a:p>
        </p:txBody>
      </p:sp>
      <p:sp>
        <p:nvSpPr>
          <p:cNvPr id="11" name="Traffic card"/>
          <p:cNvSpPr/>
          <p:nvPr/>
        </p:nvSpPr>
        <p:spPr>
          <a:xfrm>
            <a:off x="5806440" y="3429000"/>
            <a:ext cx="2880360" cy="1005840"/>
          </a:xfrm>
          <a:prstGeom prst="roundRect">
            <a:avLst>
              <a:gd name="adj" fmla="val 9091"/>
            </a:avLst>
          </a:prstGeom>
          <a:solidFill>
            <a:schemeClr val="bg2"/>
          </a:solidFill>
          <a:ln/>
        </p:spPr>
      </p:sp>
      <p:sp>
        <p:nvSpPr>
          <p:cNvPr id="12" name="Traffic text"/>
          <p:cNvSpPr txBox="1"/>
          <p:nvPr/>
        </p:nvSpPr>
        <p:spPr>
          <a:xfrm>
            <a:off x="5989320" y="3474720"/>
            <a:ext cx="2560320" cy="914400"/>
          </a:xfrm>
          <a:prstGeom prst="rect">
            <a:avLst/>
          </a:prstGeom>
          <a:noFill/>
          <a:ln/>
        </p:spPr>
        <p:txBody>
          <a:bodyPr wrap="square" lIns="0" tIns="0" rIns="0" bIns="0" rtlCol="0" anchor="ctr"/>
          <a:lstStyle/>
          <a:p>
            <a:pPr marL="0" indent="0">
              <a:buNone/>
            </a:pPr>
            <a:r>
              <a:rPr lang="en-US" sz="1400" dirty="0">
                <a:solidFill>
                  <a:schemeClr val="tx1"/>
                </a:solidFill>
              </a:rPr>
              <a:t>iPhone drives the most searches, yet converts at only 21%.</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3400" b="1" dirty="0">
                <a:solidFill>
                  <a:schemeClr val="tx2"/>
                </a:solidFill>
              </a:rPr>
              <a:t>Who drives revenue</a:t>
            </a:r>
            <a:endParaRPr lang="en-US" sz="3400" dirty="0"/>
          </a:p>
        </p:txBody>
      </p:sp>
      <p:sp>
        <p:nvSpPr>
          <p:cNvPr id="3" name="Text 1"/>
          <p:cNvSpPr>
            <a:spLocks noGrp="1"/>
          </p:cNvSpPr>
          <p:nvPr>
            <p:ph type="body" idx="102" hasCustomPrompt="1"/>
          </p:nvPr>
        </p:nvSpPr>
        <p:spPr>
          <a:xfrm>
            <a:off x="457200" y="960120"/>
            <a:ext cx="8229600" cy="457200"/>
          </a:xfrm>
          <a:prstGeom prst="rect">
            <a:avLst/>
          </a:prstGeom>
          <a:noFill/>
          <a:ln/>
        </p:spPr>
        <p:txBody>
          <a:bodyPr wrap="square" lIns="0" tIns="0" rIns="0" bIns="0" rtlCol="0" anchor="t"/>
          <a:lstStyle/>
          <a:p>
            <a:pPr marL="0" indent="0">
              <a:buNone/>
            </a:pPr>
            <a:r>
              <a:rPr lang="en-US" sz="1600" dirty="0">
                <a:solidFill>
                  <a:schemeClr val="tx1"/>
                </a:solidFill>
              </a:rPr>
              <a:t>Returning users generate 84.95% of total revenue.</a:t>
            </a:r>
            <a:endParaRPr lang="en-US" sz="1600" dirty="0"/>
          </a:p>
        </p:txBody>
      </p:sp>
      <p:graphicFrame>
        <p:nvGraphicFramePr>
          <p:cNvPr id="4" name="Chart 0"/>
          <p:cNvGraphicFramePr/>
          <p:nvPr>
            <p:extLst>
              <p:ext uri="{D42A27DB-BD31-4B8C-83A1-F6EECF244321}">
                <p14:modId xmlns:p14="http://schemas.microsoft.com/office/powerpoint/2010/main" val="4266676330"/>
              </p:ext>
            </p:extLst>
          </p:nvPr>
        </p:nvGraphicFramePr>
        <p:xfrm>
          <a:off x="457200" y="1554480"/>
          <a:ext cx="4023360" cy="2971800"/>
        </p:xfrm>
        <a:graphic>
          <a:graphicData uri="http://schemas.openxmlformats.org/drawingml/2006/chart">
            <c:chart xmlns:c="http://schemas.openxmlformats.org/drawingml/2006/chart" xmlns:r="http://schemas.openxmlformats.org/officeDocument/2006/relationships" r:id="rId3"/>
          </a:graphicData>
        </a:graphic>
      </p:graphicFrame>
      <p:sp>
        <p:nvSpPr>
          <p:cNvPr id="5" name="Revenue card"/>
          <p:cNvSpPr/>
          <p:nvPr/>
        </p:nvSpPr>
        <p:spPr>
          <a:xfrm>
            <a:off x="4663440" y="1554480"/>
            <a:ext cx="4023360" cy="914400"/>
          </a:xfrm>
          <a:prstGeom prst="roundRect">
            <a:avLst>
              <a:gd name="adj" fmla="val 10000"/>
            </a:avLst>
          </a:prstGeom>
          <a:solidFill>
            <a:schemeClr val="bg2"/>
          </a:solidFill>
          <a:ln/>
        </p:spPr>
      </p:sp>
      <p:sp>
        <p:nvSpPr>
          <p:cNvPr id="6" name="Revenue value"/>
          <p:cNvSpPr txBox="1"/>
          <p:nvPr/>
        </p:nvSpPr>
        <p:spPr>
          <a:xfrm>
            <a:off x="4892040" y="1664208"/>
            <a:ext cx="3566160" cy="411480"/>
          </a:xfrm>
          <a:prstGeom prst="rect">
            <a:avLst/>
          </a:prstGeom>
          <a:noFill/>
          <a:ln/>
        </p:spPr>
        <p:txBody>
          <a:bodyPr wrap="square" lIns="0" tIns="0" rIns="0" bIns="0" rtlCol="0" anchor="ctr"/>
          <a:lstStyle/>
          <a:p>
            <a:pPr marL="0" indent="0">
              <a:buNone/>
            </a:pPr>
            <a:r>
              <a:rPr lang="en-US" sz="2400" b="1" dirty="0">
                <a:solidFill>
                  <a:schemeClr val="accent1"/>
                </a:solidFill>
                <a:latin typeface="Cambria" pitchFamily="34" charset="0"/>
                <a:ea typeface="Cambria" pitchFamily="34" charset="-122"/>
                <a:cs typeface="Cambria" pitchFamily="34" charset="-120"/>
              </a:rPr>
              <a:t>$245.11K</a:t>
            </a:r>
            <a:endParaRPr lang="en-US" sz="2400" dirty="0"/>
          </a:p>
        </p:txBody>
      </p:sp>
      <p:sp>
        <p:nvSpPr>
          <p:cNvPr id="7" name="Revenue label"/>
          <p:cNvSpPr txBox="1"/>
          <p:nvPr/>
        </p:nvSpPr>
        <p:spPr>
          <a:xfrm>
            <a:off x="4892040" y="2075688"/>
            <a:ext cx="3566160" cy="320040"/>
          </a:xfrm>
          <a:prstGeom prst="rect">
            <a:avLst/>
          </a:prstGeom>
          <a:noFill/>
          <a:ln/>
        </p:spPr>
        <p:txBody>
          <a:bodyPr wrap="square" lIns="0" tIns="0" rIns="0" bIns="0" rtlCol="0" anchor="t"/>
          <a:lstStyle/>
          <a:p>
            <a:pPr marL="0" indent="0">
              <a:buNone/>
            </a:pPr>
            <a:r>
              <a:rPr lang="en-US" sz="1400" dirty="0">
                <a:solidFill>
                  <a:schemeClr val="tx1"/>
                </a:solidFill>
              </a:rPr>
              <a:t>total revenue from 984 bookings</a:t>
            </a:r>
            <a:endParaRPr lang="en-US" sz="1400" dirty="0"/>
          </a:p>
        </p:txBody>
      </p:sp>
      <p:sp>
        <p:nvSpPr>
          <p:cNvPr id="8" name="Avg booking card"/>
          <p:cNvSpPr/>
          <p:nvPr/>
        </p:nvSpPr>
        <p:spPr>
          <a:xfrm>
            <a:off x="4663440" y="2606040"/>
            <a:ext cx="4023360" cy="914400"/>
          </a:xfrm>
          <a:prstGeom prst="roundRect">
            <a:avLst>
              <a:gd name="adj" fmla="val 10000"/>
            </a:avLst>
          </a:prstGeom>
          <a:solidFill>
            <a:schemeClr val="bg2"/>
          </a:solidFill>
          <a:ln/>
        </p:spPr>
      </p:sp>
      <p:sp>
        <p:nvSpPr>
          <p:cNvPr id="9" name="Avg booking value"/>
          <p:cNvSpPr txBox="1"/>
          <p:nvPr/>
        </p:nvSpPr>
        <p:spPr>
          <a:xfrm>
            <a:off x="4892040" y="2715768"/>
            <a:ext cx="3566160" cy="411480"/>
          </a:xfrm>
          <a:prstGeom prst="rect">
            <a:avLst/>
          </a:prstGeom>
          <a:noFill/>
          <a:ln/>
        </p:spPr>
        <p:txBody>
          <a:bodyPr wrap="square" lIns="0" tIns="0" rIns="0" bIns="0" rtlCol="0" anchor="ctr"/>
          <a:lstStyle/>
          <a:p>
            <a:pPr marL="0" indent="0">
              <a:buNone/>
            </a:pPr>
            <a:r>
              <a:rPr lang="en-US" sz="2400" b="1" dirty="0">
                <a:solidFill>
                  <a:schemeClr val="accent1"/>
                </a:solidFill>
                <a:latin typeface="Cambria" pitchFamily="34" charset="0"/>
                <a:ea typeface="Cambria" pitchFamily="34" charset="-122"/>
                <a:cs typeface="Cambria" pitchFamily="34" charset="-120"/>
              </a:rPr>
              <a:t>$249.10</a:t>
            </a:r>
            <a:endParaRPr lang="en-US" sz="2400" dirty="0"/>
          </a:p>
        </p:txBody>
      </p:sp>
      <p:sp>
        <p:nvSpPr>
          <p:cNvPr id="10" name="Avg booking label"/>
          <p:cNvSpPr txBox="1"/>
          <p:nvPr/>
        </p:nvSpPr>
        <p:spPr>
          <a:xfrm>
            <a:off x="4892040" y="3127248"/>
            <a:ext cx="3566160" cy="320040"/>
          </a:xfrm>
          <a:prstGeom prst="rect">
            <a:avLst/>
          </a:prstGeom>
          <a:noFill/>
          <a:ln/>
        </p:spPr>
        <p:txBody>
          <a:bodyPr wrap="square" lIns="0" tIns="0" rIns="0" bIns="0" rtlCol="0" anchor="t"/>
          <a:lstStyle/>
          <a:p>
            <a:pPr marL="0" indent="0">
              <a:buNone/>
            </a:pPr>
            <a:r>
              <a:rPr lang="en-US" sz="1400" dirty="0">
                <a:solidFill>
                  <a:schemeClr val="tx1"/>
                </a:solidFill>
              </a:rPr>
              <a:t>average spent per booking</a:t>
            </a:r>
            <a:endParaRPr lang="en-US" sz="1400" dirty="0"/>
          </a:p>
        </p:txBody>
      </p:sp>
      <p:sp>
        <p:nvSpPr>
          <p:cNvPr id="11" name="So-what band"/>
          <p:cNvSpPr/>
          <p:nvPr/>
        </p:nvSpPr>
        <p:spPr>
          <a:xfrm>
            <a:off x="4663440" y="3657600"/>
            <a:ext cx="4023360" cy="868680"/>
          </a:xfrm>
          <a:prstGeom prst="roundRect">
            <a:avLst>
              <a:gd name="adj" fmla="val 10526"/>
            </a:avLst>
          </a:prstGeom>
          <a:solidFill>
            <a:schemeClr val="tx2"/>
          </a:solidFill>
          <a:ln/>
        </p:spPr>
      </p:sp>
      <p:sp>
        <p:nvSpPr>
          <p:cNvPr id="12" name="So-what text"/>
          <p:cNvSpPr txBox="1"/>
          <p:nvPr/>
        </p:nvSpPr>
        <p:spPr>
          <a:xfrm>
            <a:off x="4846320" y="3657600"/>
            <a:ext cx="3657600" cy="868680"/>
          </a:xfrm>
          <a:prstGeom prst="rect">
            <a:avLst/>
          </a:prstGeom>
          <a:noFill/>
          <a:ln/>
        </p:spPr>
        <p:txBody>
          <a:bodyPr wrap="square" lIns="0" tIns="0" rIns="0" bIns="0" rtlCol="0" anchor="ctr"/>
          <a:lstStyle/>
          <a:p>
            <a:pPr marL="0" indent="0">
              <a:buNone/>
            </a:pPr>
            <a:r>
              <a:rPr lang="en-US" sz="1400" b="1" dirty="0">
                <a:solidFill>
                  <a:schemeClr val="bg1"/>
                </a:solidFill>
              </a:rPr>
              <a:t>Retention and re-engagement are the highest-value levers for ad spend.</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3400" b="1" dirty="0">
                <a:solidFill>
                  <a:schemeClr val="tx2"/>
                </a:solidFill>
              </a:rPr>
              <a:t>Recommendations</a:t>
            </a:r>
            <a:endParaRPr lang="en-US" sz="3400" dirty="0"/>
          </a:p>
        </p:txBody>
      </p:sp>
      <p:sp>
        <p:nvSpPr>
          <p:cNvPr id="3" name="Text 1"/>
          <p:cNvSpPr>
            <a:spLocks noGrp="1"/>
          </p:cNvSpPr>
          <p:nvPr>
            <p:ph type="body" idx="102" hasCustomPrompt="1"/>
          </p:nvPr>
        </p:nvSpPr>
        <p:spPr>
          <a:xfrm>
            <a:off x="457200" y="960120"/>
            <a:ext cx="8229600" cy="457200"/>
          </a:xfrm>
          <a:prstGeom prst="rect">
            <a:avLst/>
          </a:prstGeom>
          <a:noFill/>
          <a:ln/>
        </p:spPr>
        <p:txBody>
          <a:bodyPr wrap="square" lIns="0" tIns="0" rIns="0" bIns="0" rtlCol="0" anchor="t"/>
          <a:lstStyle/>
          <a:p>
            <a:pPr marL="0" indent="0">
              <a:buNone/>
            </a:pPr>
            <a:r>
              <a:rPr lang="en-US" sz="1600" dirty="0">
                <a:solidFill>
                  <a:schemeClr val="tx1"/>
                </a:solidFill>
              </a:rPr>
              <a:t>Four actions, each backed by the dashboard’s numbers.</a:t>
            </a:r>
            <a:endParaRPr lang="en-US" sz="1600" dirty="0"/>
          </a:p>
        </p:txBody>
      </p:sp>
      <p:sp>
        <p:nvSpPr>
          <p:cNvPr id="4" name="Recommendation card 1"/>
          <p:cNvSpPr/>
          <p:nvPr/>
        </p:nvSpPr>
        <p:spPr>
          <a:xfrm>
            <a:off x="457200" y="1554480"/>
            <a:ext cx="4023360" cy="1417320"/>
          </a:xfrm>
          <a:prstGeom prst="roundRect">
            <a:avLst>
              <a:gd name="adj" fmla="val 6452"/>
            </a:avLst>
          </a:prstGeom>
          <a:solidFill>
            <a:schemeClr val="bg2"/>
          </a:solidFill>
          <a:ln/>
        </p:spPr>
      </p:sp>
      <p:sp>
        <p:nvSpPr>
          <p:cNvPr id="5" name="Number circle 1"/>
          <p:cNvSpPr/>
          <p:nvPr/>
        </p:nvSpPr>
        <p:spPr>
          <a:xfrm>
            <a:off x="640080" y="1737360"/>
            <a:ext cx="502920" cy="502920"/>
          </a:xfrm>
          <a:prstGeom prst="ellipse">
            <a:avLst/>
          </a:prstGeom>
          <a:solidFill>
            <a:schemeClr val="accent1"/>
          </a:solidFill>
          <a:ln/>
        </p:spPr>
      </p:sp>
      <p:sp>
        <p:nvSpPr>
          <p:cNvPr id="6" name="Number 1"/>
          <p:cNvSpPr txBox="1"/>
          <p:nvPr/>
        </p:nvSpPr>
        <p:spPr>
          <a:xfrm>
            <a:off x="640080" y="1737360"/>
            <a:ext cx="502920" cy="502920"/>
          </a:xfrm>
          <a:prstGeom prst="rect">
            <a:avLst/>
          </a:prstGeom>
          <a:noFill/>
          <a:ln/>
        </p:spPr>
        <p:txBody>
          <a:bodyPr wrap="square" lIns="0" tIns="0" rIns="0" bIns="0" rtlCol="0" anchor="ctr"/>
          <a:lstStyle/>
          <a:p>
            <a:pPr marL="0" indent="0" algn="ctr">
              <a:buNone/>
            </a:pPr>
            <a:r>
              <a:rPr lang="en-US" sz="2000" b="1" dirty="0">
                <a:solidFill>
                  <a:schemeClr val="bg1"/>
                </a:solidFill>
                <a:latin typeface="Cambria" pitchFamily="34" charset="0"/>
                <a:ea typeface="Cambria" pitchFamily="34" charset="-122"/>
                <a:cs typeface="Cambria" pitchFamily="34" charset="-120"/>
              </a:rPr>
              <a:t>1</a:t>
            </a:r>
            <a:endParaRPr lang="en-US" sz="2000" dirty="0"/>
          </a:p>
        </p:txBody>
      </p:sp>
      <p:sp>
        <p:nvSpPr>
          <p:cNvPr id="7" name="Recommendation title 1"/>
          <p:cNvSpPr txBox="1"/>
          <p:nvPr/>
        </p:nvSpPr>
        <p:spPr>
          <a:xfrm>
            <a:off x="1325880" y="1737360"/>
            <a:ext cx="3017520" cy="320040"/>
          </a:xfrm>
          <a:prstGeom prst="rect">
            <a:avLst/>
          </a:prstGeom>
          <a:noFill/>
          <a:ln/>
        </p:spPr>
        <p:txBody>
          <a:bodyPr wrap="square" lIns="0" tIns="0" rIns="0" bIns="0" rtlCol="0" anchor="t"/>
          <a:lstStyle/>
          <a:p>
            <a:pPr marL="0" indent="0">
              <a:buNone/>
            </a:pPr>
            <a:r>
              <a:rPr lang="en-US" sz="1600" b="1" dirty="0">
                <a:solidFill>
                  <a:schemeClr val="tx2"/>
                </a:solidFill>
              </a:rPr>
              <a:t>Age-targeted video ads</a:t>
            </a:r>
            <a:endParaRPr lang="en-US" sz="1600" dirty="0"/>
          </a:p>
        </p:txBody>
      </p:sp>
      <p:sp>
        <p:nvSpPr>
          <p:cNvPr id="8" name="Recommendation text 1"/>
          <p:cNvSpPr txBox="1"/>
          <p:nvPr/>
        </p:nvSpPr>
        <p:spPr>
          <a:xfrm>
            <a:off x="1325880" y="2103120"/>
            <a:ext cx="3017520" cy="777240"/>
          </a:xfrm>
          <a:prstGeom prst="rect">
            <a:avLst/>
          </a:prstGeom>
          <a:noFill/>
          <a:ln/>
        </p:spPr>
        <p:txBody>
          <a:bodyPr wrap="square" lIns="0" tIns="0" rIns="0" bIns="0" rtlCol="0" anchor="t"/>
          <a:lstStyle/>
          <a:p>
            <a:pPr marL="0" indent="0">
              <a:buNone/>
            </a:pPr>
            <a:r>
              <a:rPr lang="en-US" sz="1400" dirty="0">
                <a:solidFill>
                  <a:schemeClr val="tx1"/>
                </a:solidFill>
              </a:rPr>
              <a:t>Geo-targeted social video: premium stays for 30–35 and budget stays for 22–30, the top-spending ages.</a:t>
            </a:r>
            <a:endParaRPr lang="en-US" sz="1400" dirty="0"/>
          </a:p>
        </p:txBody>
      </p:sp>
      <p:sp>
        <p:nvSpPr>
          <p:cNvPr id="9" name="Recommendation card 2"/>
          <p:cNvSpPr/>
          <p:nvPr/>
        </p:nvSpPr>
        <p:spPr>
          <a:xfrm>
            <a:off x="4663440" y="1554480"/>
            <a:ext cx="4023360" cy="1417320"/>
          </a:xfrm>
          <a:prstGeom prst="roundRect">
            <a:avLst>
              <a:gd name="adj" fmla="val 6452"/>
            </a:avLst>
          </a:prstGeom>
          <a:solidFill>
            <a:schemeClr val="bg2"/>
          </a:solidFill>
          <a:ln/>
        </p:spPr>
      </p:sp>
      <p:sp>
        <p:nvSpPr>
          <p:cNvPr id="10" name="Number circle 2"/>
          <p:cNvSpPr/>
          <p:nvPr/>
        </p:nvSpPr>
        <p:spPr>
          <a:xfrm>
            <a:off x="4846320" y="1737360"/>
            <a:ext cx="502920" cy="502920"/>
          </a:xfrm>
          <a:prstGeom prst="ellipse">
            <a:avLst/>
          </a:prstGeom>
          <a:solidFill>
            <a:schemeClr val="accent1"/>
          </a:solidFill>
          <a:ln/>
        </p:spPr>
      </p:sp>
      <p:sp>
        <p:nvSpPr>
          <p:cNvPr id="11" name="Number 2"/>
          <p:cNvSpPr txBox="1"/>
          <p:nvPr/>
        </p:nvSpPr>
        <p:spPr>
          <a:xfrm>
            <a:off x="4846320" y="1737360"/>
            <a:ext cx="502920" cy="502920"/>
          </a:xfrm>
          <a:prstGeom prst="rect">
            <a:avLst/>
          </a:prstGeom>
          <a:noFill/>
          <a:ln/>
        </p:spPr>
        <p:txBody>
          <a:bodyPr wrap="square" lIns="0" tIns="0" rIns="0" bIns="0" rtlCol="0" anchor="ctr"/>
          <a:lstStyle/>
          <a:p>
            <a:pPr marL="0" indent="0" algn="ctr">
              <a:buNone/>
            </a:pPr>
            <a:r>
              <a:rPr lang="en-US" sz="2000" b="1" dirty="0">
                <a:solidFill>
                  <a:schemeClr val="bg1"/>
                </a:solidFill>
                <a:latin typeface="Cambria" pitchFamily="34" charset="0"/>
                <a:ea typeface="Cambria" pitchFamily="34" charset="-122"/>
                <a:cs typeface="Cambria" pitchFamily="34" charset="-120"/>
              </a:rPr>
              <a:t>2</a:t>
            </a:r>
            <a:endParaRPr lang="en-US" sz="2000" dirty="0"/>
          </a:p>
        </p:txBody>
      </p:sp>
      <p:sp>
        <p:nvSpPr>
          <p:cNvPr id="12" name="Recommendation title 2"/>
          <p:cNvSpPr txBox="1"/>
          <p:nvPr/>
        </p:nvSpPr>
        <p:spPr>
          <a:xfrm>
            <a:off x="5532120" y="1737360"/>
            <a:ext cx="3017520" cy="320040"/>
          </a:xfrm>
          <a:prstGeom prst="rect">
            <a:avLst/>
          </a:prstGeom>
          <a:noFill/>
          <a:ln/>
        </p:spPr>
        <p:txBody>
          <a:bodyPr wrap="square" lIns="0" tIns="0" rIns="0" bIns="0" rtlCol="0" anchor="t"/>
          <a:lstStyle/>
          <a:p>
            <a:pPr marL="0" indent="0">
              <a:buNone/>
            </a:pPr>
            <a:r>
              <a:rPr lang="en-US" sz="1600" b="1" dirty="0">
                <a:solidFill>
                  <a:schemeClr val="tx2"/>
                </a:solidFill>
              </a:rPr>
              <a:t>Fix the iPhone funnel</a:t>
            </a:r>
            <a:endParaRPr lang="en-US" sz="1600" dirty="0"/>
          </a:p>
        </p:txBody>
      </p:sp>
      <p:sp>
        <p:nvSpPr>
          <p:cNvPr id="13" name="Recommendation text 2"/>
          <p:cNvSpPr txBox="1"/>
          <p:nvPr/>
        </p:nvSpPr>
        <p:spPr>
          <a:xfrm>
            <a:off x="5532120" y="2103120"/>
            <a:ext cx="3017520" cy="777240"/>
          </a:xfrm>
          <a:prstGeom prst="rect">
            <a:avLst/>
          </a:prstGeom>
          <a:noFill/>
          <a:ln/>
        </p:spPr>
        <p:txBody>
          <a:bodyPr wrap="square" lIns="0" tIns="0" rIns="0" bIns="0" rtlCol="0" anchor="t"/>
          <a:lstStyle/>
          <a:p>
            <a:pPr marL="0" indent="0">
              <a:buNone/>
            </a:pPr>
            <a:r>
              <a:rPr lang="en-US" sz="1400" dirty="0">
                <a:solidFill>
                  <a:schemeClr val="tx1"/>
                </a:solidFill>
              </a:rPr>
              <a:t>Keep spending on iPhone and Desktop, but fix iPhone booking (21% vs 47%) and improve other devices’ UI.</a:t>
            </a:r>
            <a:endParaRPr lang="en-US" sz="1400" dirty="0"/>
          </a:p>
        </p:txBody>
      </p:sp>
      <p:sp>
        <p:nvSpPr>
          <p:cNvPr id="14" name="Recommendation card 3"/>
          <p:cNvSpPr/>
          <p:nvPr/>
        </p:nvSpPr>
        <p:spPr>
          <a:xfrm>
            <a:off x="457200" y="3108960"/>
            <a:ext cx="4023360" cy="1417320"/>
          </a:xfrm>
          <a:prstGeom prst="roundRect">
            <a:avLst>
              <a:gd name="adj" fmla="val 6452"/>
            </a:avLst>
          </a:prstGeom>
          <a:solidFill>
            <a:schemeClr val="bg2"/>
          </a:solidFill>
          <a:ln/>
        </p:spPr>
      </p:sp>
      <p:sp>
        <p:nvSpPr>
          <p:cNvPr id="15" name="Number circle 3"/>
          <p:cNvSpPr/>
          <p:nvPr/>
        </p:nvSpPr>
        <p:spPr>
          <a:xfrm>
            <a:off x="640080" y="3291840"/>
            <a:ext cx="502920" cy="502920"/>
          </a:xfrm>
          <a:prstGeom prst="ellipse">
            <a:avLst/>
          </a:prstGeom>
          <a:solidFill>
            <a:schemeClr val="accent1"/>
          </a:solidFill>
          <a:ln/>
        </p:spPr>
      </p:sp>
      <p:sp>
        <p:nvSpPr>
          <p:cNvPr id="16" name="Number 3"/>
          <p:cNvSpPr txBox="1"/>
          <p:nvPr/>
        </p:nvSpPr>
        <p:spPr>
          <a:xfrm>
            <a:off x="640080" y="3291840"/>
            <a:ext cx="502920" cy="502920"/>
          </a:xfrm>
          <a:prstGeom prst="rect">
            <a:avLst/>
          </a:prstGeom>
          <a:noFill/>
          <a:ln/>
        </p:spPr>
        <p:txBody>
          <a:bodyPr wrap="square" lIns="0" tIns="0" rIns="0" bIns="0" rtlCol="0" anchor="ctr"/>
          <a:lstStyle/>
          <a:p>
            <a:pPr marL="0" indent="0" algn="ctr">
              <a:buNone/>
            </a:pPr>
            <a:r>
              <a:rPr lang="en-US" sz="2000" b="1" dirty="0">
                <a:solidFill>
                  <a:schemeClr val="bg1"/>
                </a:solidFill>
                <a:latin typeface="Cambria" pitchFamily="34" charset="0"/>
                <a:ea typeface="Cambria" pitchFamily="34" charset="-122"/>
                <a:cs typeface="Cambria" pitchFamily="34" charset="-120"/>
              </a:rPr>
              <a:t>3</a:t>
            </a:r>
            <a:endParaRPr lang="en-US" sz="2000" dirty="0"/>
          </a:p>
        </p:txBody>
      </p:sp>
      <p:sp>
        <p:nvSpPr>
          <p:cNvPr id="17" name="Recommendation title 3"/>
          <p:cNvSpPr txBox="1"/>
          <p:nvPr/>
        </p:nvSpPr>
        <p:spPr>
          <a:xfrm>
            <a:off x="1325880" y="3291840"/>
            <a:ext cx="3017520" cy="320040"/>
          </a:xfrm>
          <a:prstGeom prst="rect">
            <a:avLst/>
          </a:prstGeom>
          <a:noFill/>
          <a:ln/>
        </p:spPr>
        <p:txBody>
          <a:bodyPr wrap="square" lIns="0" tIns="0" rIns="0" bIns="0" rtlCol="0" anchor="t"/>
          <a:lstStyle/>
          <a:p>
            <a:pPr marL="0" indent="0">
              <a:buNone/>
            </a:pPr>
            <a:r>
              <a:rPr lang="en-US" sz="1600" b="1" dirty="0">
                <a:solidFill>
                  <a:schemeClr val="tx2"/>
                </a:solidFill>
              </a:rPr>
              <a:t>Weekday timing</a:t>
            </a:r>
            <a:endParaRPr lang="en-US" sz="1600" dirty="0"/>
          </a:p>
        </p:txBody>
      </p:sp>
      <p:sp>
        <p:nvSpPr>
          <p:cNvPr id="18" name="Recommendation text 3"/>
          <p:cNvSpPr txBox="1"/>
          <p:nvPr/>
        </p:nvSpPr>
        <p:spPr>
          <a:xfrm>
            <a:off x="1325880" y="3657600"/>
            <a:ext cx="3017520" cy="777240"/>
          </a:xfrm>
          <a:prstGeom prst="rect">
            <a:avLst/>
          </a:prstGeom>
          <a:noFill/>
          <a:ln/>
        </p:spPr>
        <p:txBody>
          <a:bodyPr wrap="square" lIns="0" tIns="0" rIns="0" bIns="0" rtlCol="0" anchor="t"/>
          <a:lstStyle/>
          <a:p>
            <a:pPr marL="0" indent="0">
              <a:buNone/>
            </a:pPr>
            <a:r>
              <a:rPr lang="en-US" sz="1400" dirty="0">
                <a:solidFill>
                  <a:schemeClr val="tx1"/>
                </a:solidFill>
              </a:rPr>
              <a:t>Focus on Monday and Wednesday; cut Saturday and Sunday spend (weekends run ~25% below Monday).</a:t>
            </a:r>
            <a:endParaRPr lang="en-US" sz="1400" dirty="0"/>
          </a:p>
        </p:txBody>
      </p:sp>
      <p:sp>
        <p:nvSpPr>
          <p:cNvPr id="19" name="Recommendation card 4"/>
          <p:cNvSpPr/>
          <p:nvPr/>
        </p:nvSpPr>
        <p:spPr>
          <a:xfrm>
            <a:off x="4663440" y="3108960"/>
            <a:ext cx="4023360" cy="1417320"/>
          </a:xfrm>
          <a:prstGeom prst="roundRect">
            <a:avLst>
              <a:gd name="adj" fmla="val 6452"/>
            </a:avLst>
          </a:prstGeom>
          <a:solidFill>
            <a:schemeClr val="bg2"/>
          </a:solidFill>
          <a:ln/>
        </p:spPr>
      </p:sp>
      <p:sp>
        <p:nvSpPr>
          <p:cNvPr id="20" name="Number circle 4"/>
          <p:cNvSpPr/>
          <p:nvPr/>
        </p:nvSpPr>
        <p:spPr>
          <a:xfrm>
            <a:off x="4846320" y="3291840"/>
            <a:ext cx="502920" cy="502920"/>
          </a:xfrm>
          <a:prstGeom prst="ellipse">
            <a:avLst/>
          </a:prstGeom>
          <a:solidFill>
            <a:schemeClr val="accent1"/>
          </a:solidFill>
          <a:ln/>
        </p:spPr>
      </p:sp>
      <p:sp>
        <p:nvSpPr>
          <p:cNvPr id="21" name="Number 4"/>
          <p:cNvSpPr txBox="1"/>
          <p:nvPr/>
        </p:nvSpPr>
        <p:spPr>
          <a:xfrm>
            <a:off x="4846320" y="3291840"/>
            <a:ext cx="502920" cy="502920"/>
          </a:xfrm>
          <a:prstGeom prst="rect">
            <a:avLst/>
          </a:prstGeom>
          <a:noFill/>
          <a:ln/>
        </p:spPr>
        <p:txBody>
          <a:bodyPr wrap="square" lIns="0" tIns="0" rIns="0" bIns="0" rtlCol="0" anchor="ctr"/>
          <a:lstStyle/>
          <a:p>
            <a:pPr marL="0" indent="0" algn="ctr">
              <a:buNone/>
            </a:pPr>
            <a:r>
              <a:rPr lang="en-US" sz="2000" b="1" dirty="0">
                <a:solidFill>
                  <a:schemeClr val="bg1"/>
                </a:solidFill>
                <a:latin typeface="Cambria" pitchFamily="34" charset="0"/>
                <a:ea typeface="Cambria" pitchFamily="34" charset="-122"/>
                <a:cs typeface="Cambria" pitchFamily="34" charset="-120"/>
              </a:rPr>
              <a:t>4</a:t>
            </a:r>
            <a:endParaRPr lang="en-US" sz="2000" dirty="0"/>
          </a:p>
        </p:txBody>
      </p:sp>
      <p:sp>
        <p:nvSpPr>
          <p:cNvPr id="22" name="Recommendation title 4"/>
          <p:cNvSpPr txBox="1"/>
          <p:nvPr/>
        </p:nvSpPr>
        <p:spPr>
          <a:xfrm>
            <a:off x="5532120" y="3291840"/>
            <a:ext cx="3017520" cy="320040"/>
          </a:xfrm>
          <a:prstGeom prst="rect">
            <a:avLst/>
          </a:prstGeom>
          <a:noFill/>
          <a:ln/>
        </p:spPr>
        <p:txBody>
          <a:bodyPr wrap="square" lIns="0" tIns="0" rIns="0" bIns="0" rtlCol="0" anchor="t"/>
          <a:lstStyle/>
          <a:p>
            <a:pPr marL="0" indent="0">
              <a:buNone/>
            </a:pPr>
            <a:r>
              <a:rPr lang="en-US" sz="1600" b="1" dirty="0">
                <a:solidFill>
                  <a:schemeClr val="tx2"/>
                </a:solidFill>
              </a:rPr>
              <a:t>Build trust</a:t>
            </a:r>
            <a:endParaRPr lang="en-US" sz="1600" dirty="0"/>
          </a:p>
        </p:txBody>
      </p:sp>
      <p:sp>
        <p:nvSpPr>
          <p:cNvPr id="23" name="Recommendation text 4"/>
          <p:cNvSpPr txBox="1"/>
          <p:nvPr/>
        </p:nvSpPr>
        <p:spPr>
          <a:xfrm>
            <a:off x="5532120" y="3657600"/>
            <a:ext cx="3017520" cy="777240"/>
          </a:xfrm>
          <a:prstGeom prst="rect">
            <a:avLst/>
          </a:prstGeom>
          <a:noFill/>
          <a:ln/>
        </p:spPr>
        <p:txBody>
          <a:bodyPr wrap="square" lIns="0" tIns="0" rIns="0" bIns="0" rtlCol="0" anchor="t"/>
          <a:lstStyle/>
          <a:p>
            <a:pPr marL="0" indent="0">
              <a:buNone/>
            </a:pPr>
            <a:r>
              <a:rPr lang="en-US" sz="1400" dirty="0">
                <a:solidFill>
                  <a:schemeClr val="tx1"/>
                </a:solidFill>
              </a:rPr>
              <a:t>Add safety features: women are 56% of users, and 59% of searches never reach a message.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3400" b="1" dirty="0">
                <a:solidFill>
                  <a:schemeClr val="tx2"/>
                </a:solidFill>
              </a:rPr>
              <a:t>Dashboard page 1 of 4</a:t>
            </a:r>
            <a:endParaRPr lang="en-US" sz="3400" dirty="0"/>
          </a:p>
        </p:txBody>
      </p:sp>
      <p:sp>
        <p:nvSpPr>
          <p:cNvPr id="3" name="Text 1"/>
          <p:cNvSpPr>
            <a:spLocks noGrp="1"/>
          </p:cNvSpPr>
          <p:nvPr>
            <p:ph type="body" idx="102" hasCustomPrompt="1"/>
          </p:nvPr>
        </p:nvSpPr>
        <p:spPr>
          <a:xfrm>
            <a:off x="457200" y="960120"/>
            <a:ext cx="8229600" cy="457200"/>
          </a:xfrm>
          <a:prstGeom prst="rect">
            <a:avLst/>
          </a:prstGeom>
          <a:noFill/>
          <a:ln/>
        </p:spPr>
        <p:txBody>
          <a:bodyPr wrap="square" lIns="0" tIns="0" rIns="0" bIns="0" rtlCol="0" anchor="t"/>
          <a:lstStyle/>
          <a:p>
            <a:pPr marL="0" indent="0">
              <a:buNone/>
            </a:pPr>
            <a:r>
              <a:rPr lang="en-US" sz="1600" dirty="0">
                <a:solidFill>
                  <a:schemeClr val="tx1"/>
                </a:solidFill>
              </a:rPr>
              <a:t>Original Power BI page: EDA</a:t>
            </a:r>
            <a:endParaRPr lang="en-US" sz="1600" dirty="0"/>
          </a:p>
        </p:txBody>
      </p:sp>
      <p:pic>
        <p:nvPicPr>
          <p:cNvPr id="4" name="Dashboard screenshot EDA" descr="Full screenshot of the EDA dashboard page"/>
          <p:cNvPicPr>
            <a:picLocks noChangeAspect="1"/>
          </p:cNvPicPr>
          <p:nvPr/>
        </p:nvPicPr>
        <p:blipFill>
          <a:blip r:embed="rId3"/>
          <a:stretch>
            <a:fillRect/>
          </a:stretch>
        </p:blipFill>
        <p:spPr>
          <a:xfrm>
            <a:off x="1660622" y="1371600"/>
            <a:ext cx="5822755" cy="3246120"/>
          </a:xfrm>
          <a:prstGeom prst="rect">
            <a:avLst/>
          </a:prstGeom>
        </p:spPr>
      </p:pic>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3400" b="1" dirty="0">
                <a:solidFill>
                  <a:schemeClr val="tx2"/>
                </a:solidFill>
              </a:rPr>
              <a:t>Dashboard page 2 of 4</a:t>
            </a:r>
            <a:endParaRPr lang="en-US" sz="3400" dirty="0"/>
          </a:p>
        </p:txBody>
      </p:sp>
      <p:sp>
        <p:nvSpPr>
          <p:cNvPr id="3" name="Text 1"/>
          <p:cNvSpPr>
            <a:spLocks noGrp="1"/>
          </p:cNvSpPr>
          <p:nvPr>
            <p:ph type="body" idx="102" hasCustomPrompt="1"/>
          </p:nvPr>
        </p:nvSpPr>
        <p:spPr>
          <a:xfrm>
            <a:off x="457200" y="960120"/>
            <a:ext cx="8229600" cy="457200"/>
          </a:xfrm>
          <a:prstGeom prst="rect">
            <a:avLst/>
          </a:prstGeom>
          <a:noFill/>
          <a:ln/>
        </p:spPr>
        <p:txBody>
          <a:bodyPr wrap="square" lIns="0" tIns="0" rIns="0" bIns="0" rtlCol="0" anchor="t"/>
          <a:lstStyle/>
          <a:p>
            <a:pPr marL="0" indent="0">
              <a:buNone/>
            </a:pPr>
            <a:r>
              <a:rPr lang="en-US" sz="1600" dirty="0">
                <a:solidFill>
                  <a:schemeClr val="tx1"/>
                </a:solidFill>
              </a:rPr>
              <a:t>Original Power BI page: User Demographics</a:t>
            </a:r>
            <a:endParaRPr lang="en-US" sz="1600" dirty="0"/>
          </a:p>
        </p:txBody>
      </p:sp>
      <p:pic>
        <p:nvPicPr>
          <p:cNvPr id="4" name="Dashboard screenshot User Demographics" descr="Full screenshot of the User Demographics dashboard page"/>
          <p:cNvPicPr>
            <a:picLocks noChangeAspect="1"/>
          </p:cNvPicPr>
          <p:nvPr/>
        </p:nvPicPr>
        <p:blipFill>
          <a:blip r:embed="rId3"/>
          <a:stretch>
            <a:fillRect/>
          </a:stretch>
        </p:blipFill>
        <p:spPr>
          <a:xfrm>
            <a:off x="1654064" y="1371600"/>
            <a:ext cx="5835872" cy="3246120"/>
          </a:xfrm>
          <a:prstGeom prst="rect">
            <a:avLst/>
          </a:prstGeom>
        </p:spPr>
      </p:pic>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3400" b="1" dirty="0">
                <a:solidFill>
                  <a:schemeClr val="tx2"/>
                </a:solidFill>
              </a:rPr>
              <a:t>Dashboard page 3 of 4</a:t>
            </a:r>
            <a:endParaRPr lang="en-US" sz="3400" dirty="0"/>
          </a:p>
        </p:txBody>
      </p:sp>
      <p:sp>
        <p:nvSpPr>
          <p:cNvPr id="3" name="Text 1"/>
          <p:cNvSpPr>
            <a:spLocks noGrp="1"/>
          </p:cNvSpPr>
          <p:nvPr>
            <p:ph type="body" idx="102" hasCustomPrompt="1"/>
          </p:nvPr>
        </p:nvSpPr>
        <p:spPr>
          <a:xfrm>
            <a:off x="457200" y="960120"/>
            <a:ext cx="8229600" cy="457200"/>
          </a:xfrm>
          <a:prstGeom prst="rect">
            <a:avLst/>
          </a:prstGeom>
          <a:noFill/>
          <a:ln/>
        </p:spPr>
        <p:txBody>
          <a:bodyPr wrap="square" lIns="0" tIns="0" rIns="0" bIns="0" rtlCol="0" anchor="t"/>
          <a:lstStyle/>
          <a:p>
            <a:pPr marL="0" indent="0">
              <a:buNone/>
            </a:pPr>
            <a:r>
              <a:rPr lang="en-US" sz="1600" dirty="0">
                <a:solidFill>
                  <a:schemeClr val="tx1"/>
                </a:solidFill>
              </a:rPr>
              <a:t>Original Power BI page: Temporal &amp; Booking Trends</a:t>
            </a:r>
            <a:endParaRPr lang="en-US" sz="1600" dirty="0"/>
          </a:p>
        </p:txBody>
      </p:sp>
      <p:pic>
        <p:nvPicPr>
          <p:cNvPr id="4" name="Dashboard screenshot Temporal &amp; Booking Trends" descr="Full screenshot of the Temporal &amp; Booking Trends dashboard page"/>
          <p:cNvPicPr>
            <a:picLocks noChangeAspect="1"/>
          </p:cNvPicPr>
          <p:nvPr/>
        </p:nvPicPr>
        <p:blipFill>
          <a:blip r:embed="rId3"/>
          <a:stretch>
            <a:fillRect/>
          </a:stretch>
        </p:blipFill>
        <p:spPr>
          <a:xfrm>
            <a:off x="1737265" y="1371600"/>
            <a:ext cx="5669470" cy="3246120"/>
          </a:xfrm>
          <a:prstGeom prst="rect">
            <a:avLst/>
          </a:prstGeom>
        </p:spPr>
      </p:pic>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3400" b="1" dirty="0">
                <a:solidFill>
                  <a:schemeClr val="tx2"/>
                </a:solidFill>
              </a:rPr>
              <a:t>Dashboard page 4 of 4</a:t>
            </a:r>
            <a:endParaRPr lang="en-US" sz="3400" dirty="0"/>
          </a:p>
        </p:txBody>
      </p:sp>
      <p:sp>
        <p:nvSpPr>
          <p:cNvPr id="3" name="Text 1"/>
          <p:cNvSpPr>
            <a:spLocks noGrp="1"/>
          </p:cNvSpPr>
          <p:nvPr>
            <p:ph type="body" idx="102" hasCustomPrompt="1"/>
          </p:nvPr>
        </p:nvSpPr>
        <p:spPr>
          <a:xfrm>
            <a:off x="457200" y="960120"/>
            <a:ext cx="8229600" cy="457200"/>
          </a:xfrm>
          <a:prstGeom prst="rect">
            <a:avLst/>
          </a:prstGeom>
          <a:noFill/>
          <a:ln/>
        </p:spPr>
        <p:txBody>
          <a:bodyPr wrap="square" lIns="0" tIns="0" rIns="0" bIns="0" rtlCol="0" anchor="t"/>
          <a:lstStyle/>
          <a:p>
            <a:pPr marL="0" indent="0">
              <a:buNone/>
            </a:pPr>
            <a:r>
              <a:rPr lang="en-US" sz="1600" dirty="0">
                <a:solidFill>
                  <a:schemeClr val="tx1"/>
                </a:solidFill>
              </a:rPr>
              <a:t>Original Power BI page: Performance &amp; Revenue Insights</a:t>
            </a:r>
            <a:endParaRPr lang="en-US" sz="1600" dirty="0"/>
          </a:p>
        </p:txBody>
      </p:sp>
      <p:pic>
        <p:nvPicPr>
          <p:cNvPr id="4" name="Dashboard screenshot Performance &amp; Revenue Insights" descr="Full screenshot of the Performance &amp; Revenue Insights dashboard page"/>
          <p:cNvPicPr>
            <a:picLocks noChangeAspect="1"/>
          </p:cNvPicPr>
          <p:nvPr/>
        </p:nvPicPr>
        <p:blipFill>
          <a:blip r:embed="rId3"/>
          <a:stretch>
            <a:fillRect/>
          </a:stretch>
        </p:blipFill>
        <p:spPr>
          <a:xfrm>
            <a:off x="1656337" y="1371600"/>
            <a:ext cx="5831326" cy="3246120"/>
          </a:xfrm>
          <a:prstGeom prst="rect">
            <a:avLst/>
          </a:prstGeom>
        </p:spPr>
      </p:pic>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17</a:t>
            </a:fld>
            <a:endParaRPr lang="en-US"/>
          </a:p>
        </p:txBody>
      </p:sp>
    </p:spTree>
  </p:cSld>
  <p:clrMapOvr>
    <a:masterClrMapping/>
  </p:clrMapOvr>
</p:sld>
</file>

<file path=ppt/theme/theme1.xml><?xml version="1.0" encoding="utf-8"?>
<a:theme xmlns:a="http://schemas.openxmlformats.org/drawingml/2006/main" name="Airbnb Insights">
  <a:themeElements>
    <a:clrScheme name="Airbnb Insights">
      <a:dk1>
        <a:srgbClr val="2B1416"/>
      </a:dk1>
      <a:lt1>
        <a:srgbClr val="FFFFFF"/>
      </a:lt1>
      <a:dk2>
        <a:srgbClr val="6B2328"/>
      </a:dk2>
      <a:lt2>
        <a:srgbClr val="F3F3F4"/>
      </a:lt2>
      <a:accent1>
        <a:srgbClr val="A1343C"/>
      </a:accent1>
      <a:accent2>
        <a:srgbClr val="FF5A5F"/>
      </a:accent2>
      <a:accent3>
        <a:srgbClr val="00A699"/>
      </a:accent3>
      <a:accent4>
        <a:srgbClr val="484848"/>
      </a:accent4>
      <a:accent5>
        <a:srgbClr val="767676"/>
      </a:accent5>
      <a:accent6>
        <a:srgbClr val="F2B8BB"/>
      </a:accent6>
      <a:hlink>
        <a:srgbClr val="A1343C"/>
      </a:hlink>
      <a:folHlink>
        <a:srgbClr val="767676"/>
      </a:folHlink>
    </a:clrScheme>
    <a:fontScheme name="Airbnb Insight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TotalTime>
  <Words>1509</Words>
  <Application>Microsoft Office PowerPoint</Application>
  <PresentationFormat>On-screen Show (16:9)</PresentationFormat>
  <Paragraphs>170</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Cambria</vt:lpstr>
      <vt:lpstr>Airbnb Insights</vt:lpstr>
      <vt:lpstr>Airbnb Advertisement Strategy</vt:lpstr>
      <vt:lpstr>Executive summary</vt:lpstr>
      <vt:lpstr>What the dashboard covers</vt:lpstr>
      <vt:lpstr>Where traffic comes from</vt:lpstr>
      <vt:lpstr>Who the users are</vt:lpstr>
      <vt:lpstr>Who spends the most</vt:lpstr>
      <vt:lpstr>When users engage</vt:lpstr>
      <vt:lpstr>Monthly click-to-booking trend</vt:lpstr>
      <vt:lpstr>The booking funnel</vt:lpstr>
      <vt:lpstr>What drives conversion</vt:lpstr>
      <vt:lpstr>Lost potential customers</vt:lpstr>
      <vt:lpstr>Who drives revenue</vt:lpstr>
      <vt:lpstr>Recommendations</vt:lpstr>
      <vt:lpstr>Dashboard page 1 of 4</vt:lpstr>
      <vt:lpstr>Dashboard page 2 of 4</vt:lpstr>
      <vt:lpstr>Dashboard page 3 of 4</vt:lpstr>
      <vt:lpstr>Dashboard page 4 of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Airbnb Advertisement Strategy - Dashboard Report</dc:title>
  <dc:subject>PptxGenJS Presentation</dc:subject>
  <dc:creator>Group 03</dc:creator>
  <cp:lastModifiedBy>SUBHRAJYOTI BERA</cp:lastModifiedBy>
  <cp:revision>4</cp:revision>
  <dcterms:created xsi:type="dcterms:W3CDTF">2026-10-13T03:01:44Z</dcterms:created>
  <dcterms:modified xsi:type="dcterms:W3CDTF">2026-10-13T05:28:05Z</dcterms:modified>
</cp:coreProperties>
</file>